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24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大家好，欢迎参加本次关于康希诺生物数字化落地方案的分享。今天，我们将共同探讨如何利用人工智能技术，全面驱动研发效能的提升。在接下来的时间里，我将详细介绍我们的战略规划、实施路径以及预期成果，希望能为大家展示一个更智能、更高效的康希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次分享将围绕五个核心部分展开。首先，我们将从全局视角概览四大建设方向。接着，作为本次的重点，我们将深入探讨AI如何全面助力研发流程。之后，我们会介绍研发支撑体系、AI能力平台与场景，最后给出具体的实施路径与保障措施。希望通过这个议程，能让大家对我们的数字化蓝图有一个清晰的认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当前的行业背景下，数字化和AI已经成为生物医药研发的核心驱动力，同时，合规要求也在不断提高。对于康希诺而言，我们已经具备了坚实的信息化基础，这为我们向更深层次的数字化转型提供了绝佳的机遇。可以说，拥抱数字化已经不是一个选择题，而是关乎未来发展的必答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数字化之旅并非从零开始。目前，公司的核心业务系统，如ERP、MES、LIMS等均已稳定运行，为我们打下了坚实的基础。在此之上，我们的工作重点将聚焦于三个方面：首先是数据治理，实现主数据的统一与贯通；其次是推动AI能力的平台化复用；最后是通过数字化手段提升研发效能，例如实现ELN流程的数字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尽管我们有良好的系统基础，但在数据治理和商业智能方面，我们仍然面临一些痛点。主数据不统一导致跨系统对账困难；质量问题难以追溯根源；数据周期长，影响决策效率；决策更多依赖经验而非实时数据洞察。这些问题正是我们下一步需要着力解决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针对这些痛点，我们提出了一套完整的解决方案。通过主数据统一、数据汇聚、建立指标中心和经营看板，我们将实现数据的一致性、自有贯通、多维度分析和实时展现。这将带来三大核心转变：实现数据贯通、支持质量追溯，并最终达成实时洞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AI基建方面，我们面临的主要痛点是AI项目各自独立，无法复用。为此，我们计划构建一个统一的AI能力平台。这个平台将整合文档解析、图像质检、时序预测、流程自动化和大模型网关等核心能力，实现一次建设、多处复用，让业务系统能够快速接入AI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所有这些数字化和AI应用，都需要一个坚实可靠的运行底座。我们的私有云基座将通过容器化、网络安全、数据加密、灾备恢复和审计堡垒机等模块，为数据治理、AI基建和业务系统提供一个统一、安全、合规的运行环境，确保整个体系的稳定与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是我们的目标架构总览。整个架构自顶向下分为协同层、业务系统群、能力层、私有云基座和配套体系。协同层负责与外部系统的交互；业务系统群是我们的核心业务应用；能力层整合了数据和AI能力；私有云基座提供基础设施支持；配套体系则包括安全、运维等保障措施。各层之间紧密协作，构成一个完整的数字化生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现在，我们进入本次分享的核心部分：AI如何全面助力研发流程。我们将看到，从需求分析到最终交付，AI技术将贯穿于软件开发生命周期的每一个环节，带来革命性的效率提升。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是我们构建的AI研发全景图。它涵盖了从需求梳理、蓝图设计、PRD接口模型、编码实现、测试验证到文档交付的六个阶段。通过统一的蓝图和绿模规范，我们不仅能实现核心编码的高效复用，更能将知识沉淀下来，形成统一的线框风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梳理阶段，AI将发挥巨大作用。过去，我们常常面临需求模糊、编写耗时、标准不清等问题。现在，通过AI赋能，我们可以实现需求的自动澄清、用户故事的自动生成以及竞品信息的自动分析。我们预计，这将带来超过50%的效率提升，实现模糊需求的一键结构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页重点介绍代码质量管控的四大核心维度：静态分析、质量门禁、技术债管理和代码评审。我们通过量化指标和标准化流程，将质量内建于开发全流程，而非仅依赖事后测试，最终实现高质量的代码交付与长期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页重点介绍代码质量管控的四大核心维度：静态分析、质量门禁、技术债管理和代码评审。我们通过量化指标和标准化流程，将质量内建于开发全流程，而非仅依赖事后测试，最终实现高质量的代码交付与长期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本页重点介绍代码质量管控的四大核心维度：静态分析、质量门禁、技术债管理和代码评审。我们通过量化指标和标准化流程，将质量内建于开发全流程，而非仅依赖事后测试，最终实现高质量的代码交付与长期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这是我们AI能力平台的架构图。它清晰地展示了从业务应用层，到AI能力平台，再通过统一网关，最终运行在私有云基座上的完整链路。这种分层架构确保了AI能力的灵活调用和底层资源的稳定可靠。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I能力平台将广泛应用于研发、生产、供应链、销售和支撑等各个环节。从研发的方案筛选到生产的智能检测，再到供应链的库存优化，AI将在不同场景下发挥其独特价值，最终实现整体效率的提升和成本的降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所有的建设工作都围绕着一个清晰的业务价值链路展开。通过明确的建设方向，我们提升核心能力，最终转化为实实在在的业务效果。这是一个从投入到产出的闭环传导过程，确保每一分投入都能产生最大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成功落地AI，我们必须关注四个关键要素：高质量的数据准备、场景驱动的模型选型、严格的安全合规以及团队能力的建设。同时，我们也要避免一些常见误区，如盲目崇拜工具、追求新技术而忽视实际需求、忽视合规风险以及过度依赖AI。AI落地不仅是技术变革，更是组织能力的变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们的实施路径将分为三步走：首先是基础先行阶段，用6到12个月时间统一主数据、打通数据链路；然后是能力扩展阶段，用12到24个月建设AI能力平台；最后是成熟化阶段，用24到36个月进行规模化推广和资产沉淀。这种分步策略旨在降低风险，确保项目能够快速见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在推进技术的同时，我们必须重视团队能力的建设。AI不能完全替代人，尤其是在业务决策和质量安全方面。我们的核心理念是，AI是工具，团队能力才是根基。我们将从工具使用、输出判断、业务结合和战略决策四个层次，系统性地提升团队的AI素养和应用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任何变革都伴随着风险。我们识别了技术、组织、合规和供应商四个方面的潜在风险，并制定了相应的应对策略。例如，针对AI效果不达预期的风险，我们将采取小步快跑、快速迭代的方式；针对团队接受度低的风险，我们将坚持培训先行。我们的原则是，识别风险、提前应对、分步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通过上述一系列举措，我们预期将实现显著的效果。具体来说，研发效率有望提升30%到70%，IT成本得到优化，数据与AI资产得以沉淀，并实现实时的决策支撑。从长远来看，我们的目标是让数字化能力成为企业的核心资产，构筑持久的竞争优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为了将蓝图变为现实，我们制定了清晰的下一步行动计划。我们将首先用1到2个月时间进行启动诊断，明确优先级；然后用2到4个月选择1-2个高价值场景进行试点；接着用3到6个月进行基础建设；之后用6到12个月开展AI试点；最后在12个月后进行全面的规模推广和持续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我的分享到此结束。感谢大家的聆听。我们相信，通过数字化和AI的深度融合，康希诺必将迎来一个更加智能、高效的未来。谢谢！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7" Type="http://schemas.openxmlformats.org/officeDocument/2006/relationships/image" Target="../media/image4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sv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8.svg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2286000"/>
            <a:ext cx="1143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F0F5FF"/>
                </a:solidFill>
                <a:latin typeface="Noto Sans SC"/>
                <a:ea typeface="Noto Sans SC"/>
                <a:cs typeface="Noto Sans SC"/>
                <a:sym typeface="Noto Sans SC"/>
              </a:rPr>
              <a:t>康希诺生物数字化落地方案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381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6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AI驱动研发效能提升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5334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C8D2E6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康希诺生物股份公司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E3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cap="flat" cmpd="sng">
            <a:solidFill>
              <a:srgbClr val="040E1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762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数字化研发蓝图议程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FEF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核心聚焦：AI全链路赋能研发，重塑从需求洞察到价值交付的软件生命周期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25500" y="2730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四大建设方向概览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32766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F5F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立足全局视角，梳理研发体系顶层架构，明确数字化转型的战略蓝图与演进路径，锚定未来发展方向。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72000" y="2730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AI全面助力研发流程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32766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F5F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深度融合AI技术，覆盖需求分析、智能编码、自动化测试等关键节点，重构高效、智能的研发新模式。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318500" y="2730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研发支撑体系建设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18500" y="32766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F5F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构建标准化CI/CD流水线，强化质量门禁与效能度量体系，打造稳定、可扩展的工程化研发底座。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" y="45085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5500" y="4699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AI能力平台与场景落地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5500" y="52451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F5F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搭建统一AI能力中台，沉淀通用模型与工具能力，赋能智能代码助手、智能运维、需求智能分析等多元化业务场景，释放技术价值。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5085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DD0E1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13500" y="4699000"/>
            <a:ext cx="495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DD0E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实施路径与保障机制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13500" y="52451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F5F8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制定分阶段落地计划，建立组织保障、人才培养与考核激励机制，确保战略稳步推进、落地见效，实现研发效能与业务价值的双重提升。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背景与机遇：数字化驱动疫苗研发新未来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5397500" cy="2540000"/>
          </a:xfrm>
          <a:prstGeom prst="roundRect">
            <a:avLst>
              <a:gd name="adj" fmla="val 0"/>
            </a:avLst>
          </a:prstGeom>
          <a:solidFill>
            <a:srgbClr val="144E66">
              <a:alpha val="40000"/>
            </a:srgbClr>
          </a:solidFill>
          <a:ln w="12700" cap="flat" cmpd="sng">
            <a:solidFill>
              <a:srgbClr val="4DB6AC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B6AC"/>
                </a:solidFill>
                <a:latin typeface="Noto Sans SC"/>
                <a:ea typeface="Noto Sans SC"/>
                <a:cs typeface="Noto Sans SC"/>
                <a:sym typeface="Noto Sans SC"/>
              </a:rPr>
              <a:t>01 行业趋势：技术与合规双轮驱动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488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F2F1"/>
                </a:solidFill>
                <a:latin typeface="Noto Sans SC"/>
                <a:ea typeface="Noto Sans SC"/>
                <a:cs typeface="Noto Sans SC"/>
                <a:sym typeface="Noto Sans SC"/>
              </a:rPr>
              <a:t>生物医药行业数字化进程持续加速，AI技术正成为提升研发效率、优化实验流程的核心引擎；同时，GMP数据安全法规与合规要求日益严苛，倒逼企业加速底层基础设施升级，筑牢数据安全与质量管理的基石，推动行业向规范化、智能化转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2032000"/>
            <a:ext cx="5397500" cy="2540000"/>
          </a:xfrm>
          <a:prstGeom prst="roundRect">
            <a:avLst>
              <a:gd name="adj" fmla="val 0"/>
            </a:avLst>
          </a:prstGeom>
          <a:solidFill>
            <a:srgbClr val="144E66">
              <a:alpha val="40000"/>
            </a:srgbClr>
          </a:solidFill>
          <a:ln w="12700" cap="flat" cmpd="sng">
            <a:solidFill>
              <a:srgbClr val="4DB6AC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2286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DB6AC"/>
                </a:solidFill>
                <a:latin typeface="Noto Sans SC"/>
                <a:ea typeface="Noto Sans SC"/>
                <a:cs typeface="Noto Sans SC"/>
                <a:sym typeface="Noto Sans SC"/>
              </a:rPr>
              <a:t>02 康希诺机遇：夯实基础，迈向深水区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921000"/>
            <a:ext cx="488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F2F1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多年信息化建设的深厚积淀，康希诺已构建起稳定可靠的核心业务系统与数据底座，不仅满足了当前研发、生产与质量管理的全流程需求，更具备了向数字化深水区迈进的成熟条件，为智能化研发、精细化生产与全球化合规布局奠定了坚实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50165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4DB6AC">
              <a:alpha val="18000"/>
            </a:srgbClr>
          </a:solidFill>
          <a:ln w="12700" cap="flat" cmpd="sng">
            <a:solidFill>
              <a:srgbClr val="4DB6AC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“数字化不再是‘可选’的加分项，而是疫苗研发效率提升与合规管理的必答题，更是抢占未来生物科技高地的核心竞争力。”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63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现状与起点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4000" y="1936296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重点突破与升级方向</a:t>
            </a:r>
            <a:endParaRPr lang="en-US" sz="2400" dirty="0"/>
          </a:p>
        </p:txBody>
      </p:sp>
      <p:sp>
        <p:nvSpPr>
          <p:cNvPr id="4" name="AutoShape 4"/>
          <p:cNvSpPr/>
          <p:nvPr/>
        </p:nvSpPr>
        <p:spPr>
          <a:xfrm>
            <a:off x="6604000" y="3078842"/>
            <a:ext cx="4953000" cy="104775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2600" y="3237592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547505" y="2983592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主数据统一: 数据贯通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4613727"/>
            <a:ext cx="4953000" cy="1047750"/>
          </a:xfrm>
          <a:prstGeom prst="roundRect">
            <a:avLst>
              <a:gd name="adj" fmla="val 0"/>
            </a:avLst>
          </a:prstGeom>
          <a:solidFill>
            <a:srgbClr val="22D3EE">
              <a:alpha val="12000"/>
            </a:srgbClr>
          </a:solidFill>
          <a:ln w="12700" cap="flat" cmpd="sng">
            <a:solidFill>
              <a:srgbClr val="22D3EE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600" y="4835977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547505" y="4518477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AI复用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从项目到平台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35000" y="2032000"/>
          <a:ext cx="5588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系统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覆盖环节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状态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0F0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SAP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ERP, 财务, 供应链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4ADE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0F0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生产执行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4ADE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0F0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LIMS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实验室管理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4ADE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0F0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仓储物流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4ADE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0F0F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QMS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质量管理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4ADE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✅ 已运行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D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762000"/>
            <a:ext cx="1092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数据治理+BI：核心痛点分析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970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01 主数据不统一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2667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编码规则缺乏统一标准，跨系统数据对账严重依赖人工操作，不仅效率低下，还极易出现数据不一致与核算错误，成为业务协同的阻碍。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905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2159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485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02 数据质量难追溯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667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缺乏全局统一的数据视图，数据异常与质量问题难以定位根本原因，无法实现全链路的溯源与快速修正，严重影响业务判断的准确性。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" y="4191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445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44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03 数据周期过长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89000" y="495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数据分散在各孤立的业务系统中，采集、清洗与整合流转效率低，时效性差，导致管理层获取关键经营数据滞后，错失市场决策先机。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191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38BDF8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4445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4445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04 决策依赖经验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4953000"/>
            <a:ext cx="476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业务决策仍停留在“事后报表”的被动模式，缺乏实时的数据洞察与智能预警，管理层决策判断更多依赖过往经验，而非实时数据驱动。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23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数据治理+BI：解决方案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065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主数据统一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对物料、人员、设备、客户进行统一编码与标准化管理，消除数据定义冲突。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255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✦ 核心价值：保障数据一致性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1651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1841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005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数据汇聚融合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打通SAP、MES、LIMS、WMS等异构系统，实现跨平台数据链路无缝连接。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6195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✦ 核心价值：业务自有贯通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统一指标体系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135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构建标准化经营指标库，统一计算口径与统计维度，确保数据同源。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135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✦ 核心价值：多维分析支撑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017000" y="1651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184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588500" y="1803400"/>
            <a:ext cx="1968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可视化经营看板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207500" y="2286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2E8F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动态整合核心业务数据，通过大屏实时展现关键指标与趋势变化。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207500" y="317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✦ 核心价值：实时决策赋能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3997">
            <a:off x="635004" y="4121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7E8F9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35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67E8F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" y="46355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1270000" y="4635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全域贯通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255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打破系统壁垒，实现生产、供应链、销售等全环节数据无缝流转，消除信息孤岛，让数据成为业务流动的血液。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4318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67E8F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8500" y="4635500"/>
            <a:ext cx="355600" cy="3556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4953000" y="4635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全程可溯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45085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建立全链路数据留痕机制，从源头到终端的每一步数据均可追溯，保障数据真实可信，满足合规与质量要求。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001000" y="4445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67E8F9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91500" y="4635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8636000" y="4635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实时洞察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91500" y="5143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ECEFF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基于实时数据的动态分析，毫秒级响应业务变化，为管理层提供即时决策依据，变被动管理为主动预判。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AI基建概览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1494A6">
              <a:alpha val="10000"/>
            </a:srgbClr>
          </a:solidFill>
          <a:ln w="12700" cap="flat" cmpd="sng">
            <a:solidFill>
              <a:srgbClr val="1494A6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1651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核心痛点：孤岛效应严重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AI项目各自独立建设，模型、数据与接口无法跨场景复用，导致重复造轮子，研发效率低下且维护成本高昂。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1494A6">
              <a:alpha val="10000"/>
            </a:srgbClr>
          </a:solidFill>
          <a:ln w="12700" cap="flat" cmpd="sng">
            <a:solidFill>
              <a:srgbClr val="1494A6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20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解决方案：统一AI能力平台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构建统一标准的AI能力中台，沉淀通用模型与算法服务，实现能力的集中管理与灵活调度，赋能业务快速创新。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508000" y="3048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1494A6">
              <a:alpha val="8000"/>
            </a:srgbClr>
          </a:solidFill>
          <a:ln w="12700" cap="flat" cmpd="sng">
            <a:solidFill>
              <a:srgbClr val="1494A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323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079500" y="32004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文档解析 OCR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自动解析实验报告、合同等非结构化文档，智能提取关键信息，提升数据录入与处理效率。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56100" y="3048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1494A6">
              <a:alpha val="8000"/>
            </a:srgbClr>
          </a:solidFill>
          <a:ln w="12700" cap="flat" cmpd="sng">
            <a:solidFill>
              <a:srgbClr val="1494A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6600" y="3238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27600" y="32004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智能图像质检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基于机器视觉自动识别产品外观缺陷，替代人工抽检，实现生产全流程的自动化、高精度质量把控。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204200" y="3048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1494A6">
              <a:alpha val="8000"/>
            </a:srgbClr>
          </a:solidFill>
          <a:ln w="12700" cap="flat" cmpd="sng">
            <a:solidFill>
              <a:srgbClr val="1494A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4700" y="3238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75700" y="32004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智能时序预测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基于历史数据预测产能趋势与库存波动，辅助供应链优化与生产计划的精准制定，降低库存成本。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508000" y="4699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1494A6">
              <a:alpha val="8000"/>
            </a:srgbClr>
          </a:solidFill>
          <a:ln w="12700" cap="flat" cmpd="sng">
            <a:solidFill>
              <a:srgbClr val="1494A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889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79500" y="4851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流程自动化 (RPA)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自动执行跨系统的重复性办公流程，释放人力资源，专注于高价值的创造性工作，大幅提升运营效率与准确性。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6223000" y="4699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1494A6">
              <a:alpha val="8000"/>
            </a:srgbClr>
          </a:solidFill>
          <a:ln w="12700" cap="flat" cmpd="sng">
            <a:solidFill>
              <a:srgbClr val="1494A6">
                <a:alpha val="2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4889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8514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大模型统一网关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兼容本地私有化部署模型与第三方API调用，提供统一接口标准，保障数据安全与灵活扩展，快速赋能业务。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0" y="622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一次建设 · 多处复用 · 业务系统快速接入，加速企业智能化转型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私有云基座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397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9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625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524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容器化资源调度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70000" y="18542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CF5FA"/>
                </a:solidFill>
                <a:latin typeface="Noto Sans SC"/>
                <a:ea typeface="Noto Sans SC"/>
                <a:cs typeface="Noto Sans SC"/>
                <a:sym typeface="Noto Sans SC"/>
              </a:rPr>
              <a:t>基于K8s实现资源统一编排，支持秒级弹性伸缩，最大化资源利用率，为业务提供灵活的算力底座。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413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641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540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纵深网络防护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28702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CF5FA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构建零信任访问体系，集成防火墙与入侵检测，全方位阻断外部威胁，确保网络边界安全可控。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429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657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3556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数据全链路加密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270000" y="3886200"/>
            <a:ext cx="889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CF5FA"/>
                </a:solidFill>
                <a:latin typeface="Noto Sans SC"/>
                <a:ea typeface="Noto Sans SC"/>
                <a:cs typeface="Noto Sans SC"/>
                <a:sym typeface="Noto Sans SC"/>
              </a:rPr>
              <a:t>实施数据分级分类，采用国密算法对存储与传输数据加密，严格遵循《数据安全法》要求。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445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4673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4572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高可用灾备体系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70000" y="49022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CF5FA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建立“两地三中心”容灾机制，实现分钟级故障切换与数据无损恢复，保障业务连续性。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334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5562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270000" y="5461000"/>
            <a:ext cx="571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全链路审计合规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270000" y="5791200"/>
            <a:ext cx="965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DCF5FA"/>
                </a:solidFill>
                <a:latin typeface="Noto Sans SC"/>
                <a:ea typeface="Noto Sans SC"/>
                <a:cs typeface="Noto Sans SC"/>
                <a:sym typeface="Noto Sans SC"/>
              </a:rPr>
              <a:t>部署统一审计堡垒机，记录所有运维操作，满足GMP、GXP及行业监管要求，确保操作可追溯。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" y="622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B4EBF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核心价值：为数据治理、AI基建与核心业务系统提供统一、安全、合规的运行底座，筑牢数字化转型的坚实基石。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目标架构总览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653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77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协同层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064000" y="1651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负责跨系统交互与生态协同，打通内外连接节点，实现业务高效联动与资源共享，构建开放互联的数字化桥梁。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2438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279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0353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304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业务系统群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064000" y="2921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承载核心业务应用场景，覆盖运营、管理、服务全流程，支撑业务敏捷迭代与创新，是数字化转型的核心载体。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3708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" y="406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305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651000" y="4318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064000" y="4191000"/>
            <a:ext cx="711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深度整合数据中台与AI算法能力，挖掘数据价值，赋能业务智能化决策与自动化运营，驱动业务降本增效。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0" y="49784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" y="52832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524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55245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私有云基座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064000" y="5473700"/>
            <a:ext cx="711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1200" b="0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提供稳定可靠的基础设施支撑，涵盖计算、存储与网络资源，保障系统高可用、高并发与高安全运行。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cap="flat" cmpd="sng">
            <a:solidFill>
              <a:srgbClr val="040E1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2286000"/>
            <a:ext cx="1092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4400" b="1" i="0" u="none" strike="noStrike" dirty="0" err="1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AI全面助力</a:t>
            </a:r>
            <a:r>
              <a:rPr lang="zh-CN" altLang="en-US" sz="4400" b="1" i="0" u="none" strike="noStrike" dirty="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软件</a:t>
            </a:r>
            <a:r>
              <a:rPr lang="zh-CN" altLang="en-US" sz="4400" b="1" dirty="0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开</a:t>
            </a:r>
            <a:r>
              <a:rPr lang="en-US" sz="4400" b="1" i="0" u="none" strike="noStrike" dirty="0" err="1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发流程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016000" y="431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22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从需求分析到最终交付，AI贯穿软件开发生命周期的每一个环节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71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7E8F9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智能化研发效能跃迁新篇章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635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</a:t>
            </a:r>
            <a:r>
              <a:rPr lang="zh-CN" altLang="en-US" sz="32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</a:t>
            </a:r>
            <a:r>
              <a:rPr lang="en-US" sz="32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发全景图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35000" y="1841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2032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98500" y="2603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需求梳理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明确业务目标与场景边界，输出精准需求规格书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641600" y="1841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641600" y="2032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705100" y="2603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蓝图设计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架构规划与技术选型，确立系统整体技术蓝图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48200" y="1841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648200" y="2032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11700" y="2603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PRD接口模型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定义接口规范与数据模型，完成详细设计文档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3873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35000" y="4064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" y="4635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依据设计文档开发，完成核心功能代码编写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641600" y="3873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641600" y="4064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705100" y="4635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测试验证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功能、性能与安全多维测试，保障交付质量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48200" y="3873500"/>
            <a:ext cx="1841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48200" y="4064000"/>
            <a:ext cx="1841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711700" y="4635500"/>
            <a:ext cx="1714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8FAFC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文档交付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CBD5E1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输出技术文档与手册，完成项目验收与移交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493000" y="1841500"/>
            <a:ext cx="4064000" cy="3873500"/>
          </a:xfrm>
          <a:prstGeom prst="roundRect">
            <a:avLst>
              <a:gd name="adj" fmla="val 0"/>
            </a:avLst>
          </a:prstGeom>
          <a:solidFill>
            <a:srgbClr val="06B6D4">
              <a:alpha val="15000"/>
            </a:srgbClr>
          </a:solidFill>
          <a:ln w="12700" cap="flat" cmpd="sng">
            <a:solidFill>
              <a:srgbClr val="06B6D4">
                <a:alpha val="45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7683500" y="2095500"/>
            <a:ext cx="368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研发核心价值闭环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83500" y="2730500"/>
            <a:ext cx="3683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通过标准化的六阶段研发流程，实现从需求到交付的全链路管控。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以</a:t>
            </a:r>
            <a:r>
              <a:rPr lang="en-US" sz="1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蓝图设计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为核心指引，保障架构一致性；以</a:t>
            </a:r>
            <a:r>
              <a:rPr lang="en-US" sz="1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绿模规范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沉淀知识资产，实现技术复用；通过统一的</a:t>
            </a:r>
            <a:r>
              <a:rPr lang="en-US" sz="14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线框风格</a:t>
            </a:r>
            <a:r>
              <a:rPr lang="en-US" sz="1400" b="0" i="0" u="none" strike="noStrike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，提升研发效率与交付质量，打造可复用、可扩展的AI研发体系。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需求梳理阶段：AI赋能重构效率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需求描述模糊，语义歧义频发，反复沟通确认耗时严重</a:t>
            </a:r>
            <a:b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用户故事编写依赖人工，格式不统一且产出效率低下</a:t>
            </a:r>
            <a:b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验收标准界定模糊，导致开发与测试理解偏差，返工率高</a:t>
            </a:r>
            <a:b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竞品分析全靠人工检索整理，信息滞后且分析维度单一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AI智能赋能升级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AI需求澄清：将模糊描述转化为结构化、无歧义的需求文档</a:t>
            </a:r>
            <a:b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自动生成：一键产出标准用户故事、验收标准与测试用例</a:t>
            </a:r>
            <a:b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智能竞品分析：全网自动抓取数据并生成多维度分析报告</a:t>
            </a:r>
            <a:b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智能校验：实时检查需求完整性，规避逻辑漏洞与冲突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660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模糊需求一键结构化，实现全流程效率跃升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E6EEF5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告别低效的人工反复确认，AI让需求梳理从“人工堆砌”转向“智能智造”，大幅降低沟通成本与返工率。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509000" y="527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50%+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6EEF5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整体需求处理效率提升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蓝图/架构设计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架构方案过度依赖个人经验，缺乏标准化体系支撑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技术选型缺乏系统评估，易导致后期重构成本高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潜在风险识别滞后，难以提前规避架构隐患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方案对比文档手工编写，耗时费力且易遗漏细节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AI方案生成：秒级输出多场景架构草案，发散思路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AI选型分析：基于大数据剖析技术栈优劣与适配性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AI风险预警：自动化扫描隐患，实现风险前置管控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· AI矩阵对比：一键生成可视化方案对比表，决策高效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核心收益：架构设计效率提升 </a:t>
            </a:r>
            <a:r>
              <a:rPr lang="en-US" sz="16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40%+</a:t>
            </a:r>
            <a:r>
              <a:rPr lang="en-US" sz="16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，实现从“经验驱动”到“数据智能驱动”的范式转变，将技术风险前置化解，大幅降低后期维护成本。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功能设计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PRD编写耗时，细节容易遗漏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接口设计依赖人工，联调问题多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数据模型设计反复迭代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 PRD生成: 自动生成PRD初稿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AI接口设计: 自动生成API契约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AI数据模型: 生成数据模型建议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D43B"/>
                </a:solidFill>
                <a:latin typeface="Noto Sans SC"/>
                <a:ea typeface="Noto Sans SC"/>
                <a:cs typeface="Noto Sans SC"/>
                <a:sym typeface="Noto Sans SC"/>
              </a:rPr>
              <a:t>45%+ 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界面模型·契约与模型一次成型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编码实现：代码生成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大量重复性代码编写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新技术学习曲线陡峭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代码风格不一致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开发者疲于写代码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AI代码生成: 根据需求生成代码框架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AI代码补全: 上下文感知的智能补全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AI代码解释: 快速理解遗留代码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AI代码翻译: 跨语言代码转换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D43B"/>
                </a:solidFill>
                <a:latin typeface="Noto Sans SC"/>
                <a:ea typeface="Noto Sans SC"/>
                <a:cs typeface="Noto Sans SC"/>
                <a:sym typeface="Noto Sans SC"/>
              </a:rPr>
              <a:t>30%+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编码效率提升·从写代码到审代码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编码实现：代码质量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代码审查依赖人工，效率低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技术债积累，难以量化管理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安全漏洞发现滞后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代码规范执行不一致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AI代码审查: 自动识别问题、规范违规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AI重构建议: 识别代码坏味道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AI技术债识别: 量化技术债，优先级排序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AI安全扫描: 识别潜在安全漏洞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60%+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审查效率提升·规范与安全左移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测试用例编写耗时，覆盖率不足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自动化测试脚本维护成本高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缺陷根因分析依赖经验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回归测试范围选择困难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AI测试用例: 自动生成测试用例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AI自动化测试: 自动生成测试脚本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AI缺陷分析: 分析缺陷模式，识别根因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AI回归测试: 智能选择回归范围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50%+ 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用例编写提效·覆盖率与回归更智能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文档与交付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070"/>
                </a:solidFill>
                <a:latin typeface="Noto Sans SC"/>
                <a:ea typeface="Noto Sans SC"/>
                <a:cs typeface="Noto Sans SC"/>
                <a:sym typeface="Noto Sans SC"/>
              </a:rPr>
              <a:t>BEFORE · 传统模式痛点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文档编写滞后，与代码不同步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API文档维护成本高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知识散落在个人笔记中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变更日志容易遗漏</a:t>
            </a:r>
          </a:p>
        </p:txBody>
      </p:sp>
      <p:sp>
        <p:nvSpPr>
          <p:cNvPr id="7" name="AutoShape 7"/>
          <p:cNvSpPr/>
          <p:nvPr/>
        </p:nvSpPr>
        <p:spPr>
          <a:xfrm>
            <a:off x="6286500" y="1651000"/>
            <a:ext cx="53975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540500" y="19050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AFTER · AI智能重构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540500" y="2476500"/>
            <a:ext cx="48895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  <a:defRPr/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 API文档: 基于代码自动生成</a:t>
            </a:r>
            <a:endParaRPr lang="en-US" sz="1100"/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AI用户手册: 基于功能描述生成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AI变更日志: 自动生成版本变更</a:t>
            </a:r>
          </a:p>
          <a:p>
            <a:pPr marL="0" indent="0" algn="l">
              <a:lnSpc>
                <a:spcPct val="133333"/>
              </a:lnSpc>
            </a:pPr>
            <a:r>
              <a:rPr lang="en-US" sz="1300" b="0" i="0" u="none" strike="noStrike">
                <a:solidFill>
                  <a:srgbClr val="E6EEF5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• AI知识沉淀: 自动提取和整理知识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5080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40E0D0">
              <a:alpha val="16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20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FFE500"/>
                </a:solidFill>
                <a:latin typeface="Noto Sans SC"/>
                <a:ea typeface="Noto Sans SC"/>
                <a:cs typeface="Noto Sans SC"/>
                <a:sym typeface="Noto Sans SC"/>
              </a:rPr>
              <a:t>70%+</a:t>
            </a:r>
            <a:r>
              <a:rPr lang="en-US" sz="18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 文档提效·代码与知识同频沉淀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代码质量管控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1176000" cy="100965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585755" y="20447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静态分析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85755" y="2359025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单位时间交付需求数，目标为“提升”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" y="2870200"/>
            <a:ext cx="11176000" cy="9398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585755" y="296545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质量门禁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85755" y="327025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从需求提出到上线的时间，目标为“缩短”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8000" y="3949700"/>
            <a:ext cx="11176000" cy="8763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585755" y="4064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技术债管理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85755" y="4394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千行代码缺陷数，目标为“降低”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" y="5003800"/>
            <a:ext cx="11176000" cy="952500"/>
          </a:xfrm>
          <a:prstGeom prst="roundRect">
            <a:avLst>
              <a:gd name="adj" fmla="val 1396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585755" y="517525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代码评审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85755" y="553085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测试覆盖的代码比例，目标为“提升”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6286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4D7CE"/>
                </a:solidFill>
                <a:latin typeface="Noto Sans SC"/>
                <a:ea typeface="Noto Sans SC"/>
                <a:cs typeface="Noto Sans SC"/>
                <a:sym typeface="Noto Sans SC"/>
              </a:rPr>
              <a:t>质量是内建的，不是测试出来的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130425"/>
            <a:ext cx="355600" cy="355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092450"/>
            <a:ext cx="355600" cy="355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165600"/>
            <a:ext cx="355600" cy="355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30225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发效能度量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19812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905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需求吞吐量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235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单位时间交付需求数，目标为“提升”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2667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28702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27432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交付周期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0734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从需求提出到上线的时间，目标为“缩短”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3556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37592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36322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缺陷率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39624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千行代码缺陷数，目标为“降低”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4445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46482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45212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代码覆盖率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48514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测试覆盖的代码比例，目标为“提升”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5334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9000" y="55372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651000" y="54102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变更失败率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651000" y="57404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CCCCC"/>
                </a:solidFill>
                <a:latin typeface="Noto Sans SC"/>
                <a:ea typeface="Noto Sans SC"/>
                <a:cs typeface="Noto Sans SC"/>
                <a:sym typeface="Noto Sans SC"/>
              </a:rPr>
              <a:t>部署后回滚或修复的比例，目标为“降低”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08000" y="6286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44D7CE"/>
                </a:solidFill>
                <a:latin typeface="Noto Sans SC"/>
                <a:ea typeface="Noto Sans SC"/>
                <a:cs typeface="Noto Sans SC"/>
                <a:sym typeface="Noto Sans SC"/>
              </a:rPr>
              <a:t>原则：度量是为了改进，不是为了考核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DevOps实践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03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DCF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22352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159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环境管理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489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8E6F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开发、测试、预发、生产标准化，关注“一致性”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8000" y="3048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4DCF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32512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3175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配置管理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3505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8E6F0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配置与代码分离，关注“可溯源”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" y="4064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4DCF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2672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191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监控告警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651000" y="4521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8E6F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应用性能监控、异常告警，关注“可观测”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08000" y="5080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64DCF0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2832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207000"/>
            <a:ext cx="952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发布策略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651000" y="5537200"/>
            <a:ext cx="9525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C8E6F0"/>
                </a:solidFill>
                <a:latin typeface="Noto Sans SC"/>
                <a:ea typeface="Noto Sans SC"/>
                <a:cs typeface="Noto Sans SC"/>
                <a:sym typeface="Noto Sans SC"/>
              </a:rPr>
              <a:t>蓝绿、金丝雀、灰度，关注“低风险”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8000" y="6159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E6F0"/>
                </a:solidFill>
                <a:latin typeface="Noto Sans SC"/>
                <a:ea typeface="Noto Sans SC"/>
                <a:cs typeface="Noto Sans SC"/>
                <a:sym typeface="Noto Sans SC"/>
              </a:rPr>
              <a:t>AI融合：异常检测·容量预测·日志分析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762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AI能力平台架构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2032000"/>
            <a:ext cx="2603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19200" y="2311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业务应用层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921000"/>
            <a:ext cx="2197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面向实际业务场景，承载智能客服、智能决策等终端应用，实现AI能力的场景化落地与商业价值转化，是架构的顶层输出端。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365500" y="2032000"/>
            <a:ext cx="2603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87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076700" y="2311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AI能力平台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568700" y="2921000"/>
            <a:ext cx="2197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汇聚算法模型库、算力调度与数据治理能力，提供标准化的AI服务接口，是支撑上层应用快速构建与迭代的核心能力中枢。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2603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62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34200" y="2311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统一网关层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26200" y="2921000"/>
            <a:ext cx="2197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作为AI服务的统一流量入口，负责请求路由、鉴权认证与负载均衡，保障服务调用的安全性、稳定性与高并发处理能力。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080500" y="2032000"/>
            <a:ext cx="26035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7E8F9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83700" y="228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791700" y="2311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私有云基座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283700" y="2921000"/>
            <a:ext cx="21971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提供高性能算力资源池、分布式存储与高速网络，为AI模型训练与推理计算提供稳定、可弹性扩展的底层基础设施支撑。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50165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67E8F9">
              <a:alpha val="15000"/>
            </a:srgbClr>
          </a:solidFill>
          <a:ln w="12700" cap="flat" cmpd="sng">
            <a:solidFill>
              <a:srgbClr val="67E8F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53721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270000" y="51816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合规保障体系：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全链路遵循国家数据安全法规，实现数据隐私保护、模型安全审计与访问权限管控，确保AI应用在合规框架内稳定运行，筑牢企业智能化转型的安全基石。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000" y="508000"/>
            <a:ext cx="1143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AI应用场景矩阵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381000" y="1778000"/>
            <a:ext cx="2159000" cy="3556000"/>
          </a:xfrm>
          <a:prstGeom prst="roundRect">
            <a:avLst>
              <a:gd name="adj" fmla="val 0"/>
            </a:avLst>
          </a:prstGeom>
          <a:solidFill>
            <a:srgbClr val="0F4C5C">
              <a:alpha val="5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080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研发创新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22917">
            <a:off x="508021" y="2406650"/>
            <a:ext cx="190504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508000" y="2603500"/>
            <a:ext cx="190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方案智能筛选、工艺参数优化、海量文献自动分析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机器学习(ML)、自然语言处理(NLP)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缩短研发周期，提升创新成功率</a:t>
            </a:r>
          </a:p>
        </p:txBody>
      </p:sp>
      <p:sp>
        <p:nvSpPr>
          <p:cNvPr id="7" name="AutoShape 7"/>
          <p:cNvSpPr/>
          <p:nvPr/>
        </p:nvSpPr>
        <p:spPr>
          <a:xfrm>
            <a:off x="2730500" y="1778000"/>
            <a:ext cx="2159000" cy="3556000"/>
          </a:xfrm>
          <a:prstGeom prst="roundRect">
            <a:avLst>
              <a:gd name="adj" fmla="val 0"/>
            </a:avLst>
          </a:prstGeom>
          <a:solidFill>
            <a:srgbClr val="0F4C5C">
              <a:alpha val="5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8575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智能制造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2917">
            <a:off x="2857521" y="2406650"/>
            <a:ext cx="190504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2857500" y="2603500"/>
            <a:ext cx="190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设备预测性维护、产线过程优化、视觉智能检测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时序预测、计算机视觉(CV)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降低设备故障率，提升良品率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0" y="1778000"/>
            <a:ext cx="2159000" cy="3556000"/>
          </a:xfrm>
          <a:prstGeom prst="roundRect">
            <a:avLst>
              <a:gd name="adj" fmla="val 0"/>
            </a:avLst>
          </a:prstGeom>
          <a:solidFill>
            <a:srgbClr val="0F4C5C">
              <a:alpha val="5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2070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 智慧供应链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22917">
            <a:off x="5207021" y="2406650"/>
            <a:ext cx="190504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5207000" y="2603500"/>
            <a:ext cx="190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需求精准预测、库存动态优化、物流智能调度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预测模型、运筹优化算法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降低库存成本，提升物流效率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429500" y="1778000"/>
            <a:ext cx="2159000" cy="3556000"/>
          </a:xfrm>
          <a:prstGeom prst="roundRect">
            <a:avLst>
              <a:gd name="adj" fmla="val 0"/>
            </a:avLst>
          </a:prstGeom>
          <a:solidFill>
            <a:srgbClr val="0F4C5C">
              <a:alpha val="5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5565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04 精准营销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2917">
            <a:off x="7556521" y="2406650"/>
            <a:ext cx="190504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7556500" y="2603500"/>
            <a:ext cx="190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销售趋势预测、客户画像洞察、营销内容生成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预测模型、NLP生成式AI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提升转化效率，挖掘客户价值</a:t>
            </a:r>
          </a:p>
        </p:txBody>
      </p:sp>
      <p:sp>
        <p:nvSpPr>
          <p:cNvPr id="19" name="AutoShape 19"/>
          <p:cNvSpPr/>
          <p:nvPr/>
        </p:nvSpPr>
        <p:spPr>
          <a:xfrm>
            <a:off x="9779000" y="1778000"/>
            <a:ext cx="2159000" cy="3556000"/>
          </a:xfrm>
          <a:prstGeom prst="roundRect">
            <a:avLst>
              <a:gd name="adj" fmla="val 0"/>
            </a:avLst>
          </a:prstGeom>
          <a:solidFill>
            <a:srgbClr val="0F4C5C">
              <a:alpha val="50000"/>
            </a:srgbClr>
          </a:solidFill>
          <a:ln w="12700" cap="flat" cmpd="sng">
            <a:solidFill>
              <a:srgbClr val="2DD4BF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906000" y="1968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05 智能支撑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2917">
            <a:off x="9906021" y="2406650"/>
            <a:ext cx="1905042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9906000" y="2603500"/>
            <a:ext cx="190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核心场景：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财务风险分析、合规智能监控、企业知识管理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AI能力：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异常检测、知识图谱构建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CCFBF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价值：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>
                <a:solidFill>
                  <a:srgbClr val="CCFBF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规避经营风险，优化管理效率</a:t>
            </a:r>
          </a:p>
        </p:txBody>
      </p:sp>
      <p:sp>
        <p:nvSpPr>
          <p:cNvPr id="23" name="AutoShape 23"/>
          <p:cNvSpPr/>
          <p:nvPr/>
        </p:nvSpPr>
        <p:spPr>
          <a:xfrm>
            <a:off x="381000" y="5651500"/>
            <a:ext cx="11557000" cy="762000"/>
          </a:xfrm>
          <a:prstGeom prst="roundRect">
            <a:avLst>
              <a:gd name="adj" fmla="val 0"/>
            </a:avLst>
          </a:prstGeom>
          <a:solidFill>
            <a:srgbClr val="0F4C5C">
              <a:alpha val="70000"/>
            </a:srgbClr>
          </a:solidFill>
          <a:ln cap="flat" cmpd="sng">
            <a:solidFill>
              <a:srgbClr val="043643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508000" y="5778500"/>
            <a:ext cx="1130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CFBF1">
                    <a:alpha val="98039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“一次建设 · 多处复用” —— 构建全链路智能化的AI赋能体系，实现业务价值最大化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762000"/>
            <a:ext cx="10972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业务价值链路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09600" y="2032000"/>
            <a:ext cx="3454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建设方向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63600" y="29845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2E8FF"/>
                </a:solidFill>
                <a:latin typeface="Noto Sans SC"/>
                <a:ea typeface="Noto Sans SC"/>
                <a:cs typeface="Noto Sans SC"/>
                <a:sym typeface="Noto Sans SC"/>
              </a:rPr>
              <a:t>锚定战略核心，聚焦业务痛点与发展需求，明确数字化建设的路径与重点方向。通过精准的规划布局，确保技术投入与业务目标同频共振，为后续能力构建筑牢根基。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68800" y="2032000"/>
            <a:ext cx="3454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1562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能力提升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22800" y="29845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2E8FF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依托技术赋能与流程重构，打造高效协同的数字化能力体系。强化数据驱动决策、智能运营等核心能力，实现组织效率与技术实力的双重跃升，构建可持续的竞争优势。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2032000"/>
            <a:ext cx="34544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8B5C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9154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业务效果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82000" y="29845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2E8FF"/>
                </a:solidFill>
                <a:latin typeface="Noto Sans SC"/>
                <a:ea typeface="Noto Sans SC"/>
                <a:cs typeface="Noto Sans SC"/>
                <a:sym typeface="Noto Sans SC"/>
              </a:rPr>
              <a:t>实现降本增效与用户体验的双重提升，将技术能力转化为实实在在的业务增长。以可量化的指标验证建设成效，形成“投入-产出-再优化”的价值闭环，驱动业务持续增长。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09600" y="53975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BD5E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闭环传导：构建从战略规划到价值落地的完整链路，让每一分技术投入都转化为推动业务发展的核心动力，实现价值创造的正向循环。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0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AI落地关键要素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397500" cy="1714500"/>
          </a:xfrm>
          <a:prstGeom prst="roundRect">
            <a:avLst>
              <a:gd name="adj" fmla="val 0"/>
            </a:avLst>
          </a:prstGeom>
          <a:solidFill>
            <a:srgbClr val="2D557D">
              <a:alpha val="25000"/>
            </a:srgbClr>
          </a:solidFill>
          <a:ln w="12700" cap="flat" cmpd="sng">
            <a:solidFill>
              <a:srgbClr val="67E8F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5000" y="1651000"/>
            <a:ext cx="514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01 数据准备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0F4F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数据质量是AI效果的基石，决定模型训练上限与推理准确性，需做好清洗、标注与特征工程。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误区：盲目工具崇拜，忽视数据治理的核心价值。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6286500" y="1524000"/>
            <a:ext cx="5397500" cy="1714500"/>
          </a:xfrm>
          <a:prstGeom prst="roundRect">
            <a:avLst>
              <a:gd name="adj" fmla="val 0"/>
            </a:avLst>
          </a:prstGeom>
          <a:solidFill>
            <a:srgbClr val="2D557D">
              <a:alpha val="25000"/>
            </a:srgbClr>
          </a:solidFill>
          <a:ln w="12700" cap="flat" cmpd="sng">
            <a:solidFill>
              <a:srgbClr val="67E8F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413500" y="1651000"/>
            <a:ext cx="514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模型选型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0F4F8"/>
                </a:solidFill>
                <a:latin typeface="Noto Sans SC"/>
                <a:ea typeface="Noto Sans SC"/>
                <a:cs typeface="Noto Sans SC"/>
                <a:sym typeface="Noto Sans SC"/>
              </a:rPr>
              <a:t>坚持场景驱动，匹配业务需求与算力资源，注重模型的适配性调优而非单纯追求参数规模。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误区：唯新技术论，脱离实际场景的“炫技式”选型。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508000" y="3619500"/>
            <a:ext cx="5397500" cy="1714500"/>
          </a:xfrm>
          <a:prstGeom prst="roundRect">
            <a:avLst>
              <a:gd name="adj" fmla="val 0"/>
            </a:avLst>
          </a:prstGeom>
          <a:solidFill>
            <a:srgbClr val="2D557D">
              <a:alpha val="25000"/>
            </a:srgbClr>
          </a:solidFill>
          <a:ln w="12700" cap="flat" cmpd="sng">
            <a:solidFill>
              <a:srgbClr val="67E8F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" y="3746500"/>
            <a:ext cx="514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03 安全合规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0F4F8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构建全链路安全体系，涵盖数据隐私保护、模型防篡改及行业合规（如医疗GMP）要求。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误区：重落地速度，轻合规审查，埋下数据泄露隐患。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86500" y="3619500"/>
            <a:ext cx="5397500" cy="1714500"/>
          </a:xfrm>
          <a:prstGeom prst="roundRect">
            <a:avLst>
              <a:gd name="adj" fmla="val 0"/>
            </a:avLst>
          </a:prstGeom>
          <a:solidFill>
            <a:srgbClr val="2D557D">
              <a:alpha val="25000"/>
            </a:srgbClr>
          </a:solidFill>
          <a:ln w="12700" cap="flat" cmpd="sng">
            <a:solidFill>
              <a:srgbClr val="67E8F9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13500" y="3746500"/>
            <a:ext cx="5143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67E8F9"/>
                </a:solidFill>
                <a:latin typeface="Noto Sans SC"/>
                <a:ea typeface="Noto Sans SC"/>
                <a:cs typeface="Noto Sans SC"/>
                <a:sym typeface="Noto Sans SC"/>
              </a:rPr>
              <a:t>04 团队能力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0F4F8"/>
                </a:solidFill>
                <a:latin typeface="Noto Sans SC"/>
                <a:ea typeface="Noto Sans SC"/>
                <a:cs typeface="Noto Sans SC"/>
                <a:sym typeface="Noto Sans SC"/>
              </a:rPr>
              <a:t>打造“技术+业务”复合型团队，提升全员对AI的理解力、应用力与决策判断力。</a:t>
            </a:r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CA5A5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误区：过度依赖AI工具，弱化人类的专业判断与干预。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" y="5588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67E8F9">
              <a:alpha val="18000"/>
            </a:srgbClr>
          </a:solidFill>
          <a:ln w="12700" cap="flat" cmpd="sng">
            <a:solidFill>
              <a:srgbClr val="67E8F9">
                <a:alpha val="7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" y="5689600"/>
            <a:ext cx="1092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ECFE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核心认知：AI落地不仅是技术的升级，更是组织能力的重塑，唯有技术与组织双向发力，才能实现真正的价值转化。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72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35000" y="762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三步走实施路径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" y="2032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F4C81">
              <a:alpha val="50000"/>
            </a:srgbClr>
          </a:solidFill>
          <a:ln w="12700" cap="flat" cmpd="sng">
            <a:solidFill>
              <a:srgbClr val="00DD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255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DFF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基础先行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255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EBFA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周期：6-12个月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25500" y="3556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F5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统一主数据标准，打通跨部门数据链路，消除信息孤岛，为数字化转型构建坚实的数据底座，确保数据的准确性与一致性。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381500" y="2032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F4C81">
              <a:alpha val="50000"/>
            </a:srgbClr>
          </a:solidFill>
          <a:ln w="12700" cap="flat" cmpd="sng">
            <a:solidFill>
              <a:srgbClr val="00DD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5720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DFF"/>
                </a:solidFill>
                <a:latin typeface="Noto Sans SC"/>
                <a:ea typeface="Noto Sans SC"/>
                <a:cs typeface="Noto Sans SC"/>
                <a:sym typeface="Noto Sans SC"/>
              </a:rPr>
              <a:t>02 能力扩展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720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EBFA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周期：12-24个月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72000" y="3556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F5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建设企业级AI能力平台，整合算法模型与算力资源，开发智能化应用场景，实现业务流程的自动化与智能化升级。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2032000"/>
            <a:ext cx="3429000" cy="3048000"/>
          </a:xfrm>
          <a:prstGeom prst="roundRect">
            <a:avLst>
              <a:gd name="adj" fmla="val 0"/>
            </a:avLst>
          </a:prstGeom>
          <a:solidFill>
            <a:srgbClr val="0F4C81">
              <a:alpha val="50000"/>
            </a:srgbClr>
          </a:solidFill>
          <a:ln w="12700" cap="flat" cmpd="sng">
            <a:solidFill>
              <a:srgbClr val="00DDFF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18500" y="22860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DDFF"/>
                </a:solidFill>
                <a:latin typeface="Noto Sans SC"/>
                <a:ea typeface="Noto Sans SC"/>
                <a:cs typeface="Noto Sans SC"/>
                <a:sym typeface="Noto Sans SC"/>
              </a:rPr>
              <a:t>03 成熟化应用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2921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8EBFA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周期：24-36个月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18500" y="3556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6F5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推动智能化应用规模化推广，沉淀行业知识库与数字化资产，构建可持续的数字化运营生态，实现业务价值最大化。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5000" y="5461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DDFF">
              <a:alpha val="12000"/>
            </a:srgbClr>
          </a:solidFill>
          <a:ln w="12700" cap="flat" cmpd="sng">
            <a:solidFill>
              <a:srgbClr val="00DD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5651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0FCFF"/>
                </a:solidFill>
                <a:latin typeface="Noto Sans SC"/>
                <a:ea typeface="Noto Sans SC"/>
                <a:cs typeface="Noto Sans SC"/>
                <a:sym typeface="Noto Sans SC"/>
              </a:rPr>
              <a:t>策略核心：分步实施降低风险，快速迭代实现价值落地，确保项目稳健推进与成效可见。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635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团队能力建设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152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AI工具 · 团队能力是根基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222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CBD5E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AI无法替代人的判断力，生成内容需人工校验，业务决策需专家把关，</a:t>
            </a:r>
            <a:br>
              <a:rPr lang="en-US" sz="1400" b="0" i="0" u="none" strike="noStrike">
                <a:solidFill>
                  <a:srgbClr val="CBD5E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CBD5E1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质量安全与价值判断始终是不可逾越的底线。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3175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00" y="342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454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工具使用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064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熟练掌握AI工具的基础操作与最佳实践，熟悉各类模型的特性，建立标准化的使用流程。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397500"/>
            <a:ext cx="10160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5397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基础必备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365500" y="3175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19500" y="342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3454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输出判断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556000" y="4064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对AI生成的内容进行严谨的校验、筛选与优化，确保信息的准确性、合规性与实用性。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56000" y="5397500"/>
            <a:ext cx="10160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3556000" y="5397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关键把控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159500" y="3175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3429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21500" y="3454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业务结合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4064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将AI技术深度融入业务场景，挖掘数据价值，解决实际业务痛点，实现降本增效。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5397500"/>
            <a:ext cx="10160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350000" y="5397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953500" y="3175000"/>
            <a:ext cx="2603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2D3EE">
                <a:alpha val="3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7500" y="3429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715500" y="3454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战略决策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9144000" y="4064000"/>
            <a:ext cx="2222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基于AI洞察制定应用优先级，合理分配资源，引领组织的数字化转型方向与长期规划。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144000" y="5397500"/>
            <a:ext cx="1016000" cy="304800"/>
          </a:xfrm>
          <a:prstGeom prst="roundRect">
            <a:avLst>
              <a:gd name="adj" fmla="val 0"/>
            </a:avLst>
          </a:prstGeom>
          <a:solidFill>
            <a:srgbClr val="22D3EE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9144000" y="53975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2D3EE"/>
                </a:solidFill>
                <a:latin typeface="Noto Sans SC"/>
                <a:ea typeface="Noto Sans SC"/>
                <a:cs typeface="Noto Sans SC"/>
                <a:sym typeface="Noto Sans SC"/>
              </a:rPr>
              <a:t>高阶思维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cap="flat" cmpd="sng">
            <a:solidFill>
              <a:srgbClr val="040E1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9600" y="6350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风险与应对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778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00100" y="19050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01 技术风险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潜在挑战：AI模型效果不达预期，复杂场景下算法稳定性不足。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小步快跑，快速迭代验证，设立MVP最小可行性产品测试机制，及时调整优化。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6248400" y="1778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438900" y="19050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02 组织风险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潜在挑战：团队对智能化工具接受度低，原有操作习惯固化，变革阻力大。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培训先行，开展分层实操演练，树立内部标杆案例带动全员，建立激励机制。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09600" y="37465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800100" y="38735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03 合规风险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潜在挑战：数据隐私泄露隐患，医药行业GMP合规标准适配难，监管要求高。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合规前置，建立数据安全审计机制，提前完成合规认证备案，确保业务合规。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248400" y="37465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6B6D4">
                <a:alpha val="5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38900" y="3873500"/>
            <a:ext cx="4953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6B6D4"/>
                </a:solidFill>
                <a:latin typeface="Noto Sans SC"/>
                <a:ea typeface="Noto Sans SC"/>
                <a:cs typeface="Noto Sans SC"/>
                <a:sym typeface="Noto Sans SC"/>
              </a:rPr>
              <a:t>04 供应商风险</a:t>
            </a:r>
            <a:endParaRPr lang="en-US" sz="1100"/>
          </a:p>
          <a:p>
            <a:pPr marL="0" indent="0" algn="l">
              <a:lnSpc>
                <a:spcPct val="108333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潜在挑战：单一供应商依赖导致技术锁定，服务响应滞后，影响业务连续性。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应对策略：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多供应商布局，建立技术解耦方案，保留核心技术自主可控能力，规避依赖。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09600" y="5842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识别风险 · 提前应对 · 分步验证，确保转型平稳落地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D203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635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数字化转型预期成效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98500" y="254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30-70% 效率跃升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8500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打破系统孤岛，实现跨域数据贯通，AI辅助研发大幅缩短交付周期，提升人效。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340100" y="1778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06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530600" y="254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IT成本显著优化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530600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整合冗余系统，降低运维复杂度与硬件投入，实现资源集约利用与成本可控。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172200" y="1778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62700" y="2032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362700" y="254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数据资产沉淀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362700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统一主数据标准，构建企业级AI模型库与知识库，将隐性知识转化为显性资产。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004300" y="1778000"/>
            <a:ext cx="2667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94800" y="2032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94800" y="2540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实时决策支撑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194800" y="3175000"/>
            <a:ext cx="228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告别滞后报表，通过实时数据看板与智能分析，赋能管理层快速响应市场变化。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3906">
            <a:off x="508004" y="4438650"/>
            <a:ext cx="11176007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508000" y="4699000"/>
            <a:ext cx="546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核心价值落地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打通业务流与数据流，消除信息孤岛，实现高效协同；建立标准化技术中台，降低重复建设成本；沉淀可复用的数字资产，为业务创新提供源源不断的动力。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699000"/>
            <a:ext cx="546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长期战略意义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E5E7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数字化能力将成为企业的核心战略资产，不仅支撑当下的业务增长，更构筑起难以复制的竞争壁垒，为未来的智能化升级与全球化扩张奠定坚实的数字基石。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5000" y="762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下一步行动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35000" y="2032000"/>
            <a:ext cx="2095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64C8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DC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1-2月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启动诊断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23707">
            <a:off x="762022" y="3422650"/>
            <a:ext cx="18415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3683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/>
                <a:ea typeface="Noto Sans SC"/>
                <a:cs typeface="Noto Sans SC"/>
                <a:sym typeface="Noto Sans SC"/>
              </a:rPr>
              <a:t>开展现状评估，梳理业务痛点，明确数字化转型的优先级与核心目标，为后续实施奠定坚实基础。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857500" y="2032000"/>
            <a:ext cx="2095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2984500" y="2286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DC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2-4月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84500" y="27940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试点选择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3707">
            <a:off x="2984522" y="3422650"/>
            <a:ext cx="18415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984500" y="3683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/>
                <a:ea typeface="Noto Sans SC"/>
                <a:cs typeface="Noto Sans SC"/>
                <a:sym typeface="Noto Sans SC"/>
              </a:rPr>
              <a:t>筛选1-2个高价值、易落地的业务场景作为试点，集中资源快速验证效果，形成可复制的成功经验。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0" y="2032000"/>
            <a:ext cx="2095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07000" y="2286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DCFF"/>
                </a:solidFill>
                <a:latin typeface="Noto Sans SC"/>
                <a:ea typeface="Noto Sans SC"/>
                <a:cs typeface="Noto Sans SC"/>
                <a:sym typeface="Noto Sans SC"/>
              </a:rPr>
              <a:t>03 / 3-6月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207000" y="27940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基础建设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3707">
            <a:off x="5207022" y="3422650"/>
            <a:ext cx="18415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5207000" y="3683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/>
                <a:ea typeface="Noto Sans SC"/>
                <a:cs typeface="Noto Sans SC"/>
                <a:sym typeface="Noto Sans SC"/>
              </a:rPr>
              <a:t>推进数据治理体系建设，搭建稳定可靠的私有云基座，夯实技术底座，保障数据安全与合规性。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02500" y="2032000"/>
            <a:ext cx="2095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429500" y="2286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DCFF"/>
                </a:solidFill>
                <a:latin typeface="Noto Sans SC"/>
                <a:ea typeface="Noto Sans SC"/>
                <a:cs typeface="Noto Sans SC"/>
                <a:sym typeface="Noto Sans SC"/>
              </a:rPr>
              <a:t>04 / 6-12月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429500" y="27940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AI试点落地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23707">
            <a:off x="7429522" y="3422650"/>
            <a:ext cx="18415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429500" y="3683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/>
                <a:ea typeface="Noto Sans SC"/>
                <a:cs typeface="Noto Sans SC"/>
                <a:sym typeface="Noto Sans SC"/>
              </a:rPr>
              <a:t>部署AI能力平台，赋能研发效能提升，实现智能客服、数据分析等场景的智能化应用落地。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525000" y="2032000"/>
            <a:ext cx="20955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9652000" y="2286000"/>
            <a:ext cx="184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78DCFF"/>
                </a:solidFill>
                <a:latin typeface="Noto Sans SC"/>
                <a:ea typeface="Noto Sans SC"/>
                <a:cs typeface="Noto Sans SC"/>
                <a:sym typeface="Noto Sans SC"/>
              </a:rPr>
              <a:t>05 / 12月+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652000" y="2794000"/>
            <a:ext cx="1841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规模推广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23707">
            <a:off x="9652022" y="3422650"/>
            <a:ext cx="1841544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78DC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652000" y="3683000"/>
            <a:ext cx="1841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BEBF5"/>
                </a:solidFill>
                <a:latin typeface="Noto Sans SC"/>
                <a:ea typeface="Noto Sans SC"/>
                <a:cs typeface="Noto Sans SC"/>
                <a:sym typeface="Noto Sans SC"/>
              </a:rPr>
              <a:t>将成熟的AI应用全面推广至全业务线，建立持续优化机制，驱动业务全面数字化转型。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" y="5715000"/>
            <a:ext cx="1098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BEBF5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以“诊断-试点-基建-赋能-推广”的五步走策略，稳步推进数字化转型，实现业务价值最大化。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031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32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78D2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DCE6FA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康希诺生物数字化落地方案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82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EC8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AI驱动研发效能提升 · 共创生物医药智能未来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2670</Words>
  <Application>Microsoft Office PowerPoint</Application>
  <PresentationFormat>宽屏</PresentationFormat>
  <Paragraphs>454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36" baseType="lpstr">
      <vt:lpstr>Noto Sans SC</vt:lpstr>
      <vt:lpstr>Arial</vt:lpstr>
      <vt:lpstr>Calibri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贺刚</cp:lastModifiedBy>
  <cp:revision>7</cp:revision>
  <dcterms:modified xsi:type="dcterms:W3CDTF">2026-09-01T03:36:33Z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{"Label":"1","ContentProducer":"001191110102MACQD9K64010000","ProduceID":"7680158423837084872","ReservedCode1":"","ContentPropagator":"","PropagateID":"","ReservedCode2":""}</vt:lpwstr>
  </property>
</Properties>
</file>