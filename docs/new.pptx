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88825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8760" y="27288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5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8760" y="160416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709"/>
              </a:spcBef>
              <a:buNone/>
            </a:pP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E9674C-1AE9-4DAC-9F0F-8CF5AC4B52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8760" y="27288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53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8760" y="160416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70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366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38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102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68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33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33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33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7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36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38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102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68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3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3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3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2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08760" y="6247440"/>
            <a:ext cx="2839680" cy="47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168080" y="6247440"/>
            <a:ext cx="3863160" cy="47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739000" y="6247440"/>
            <a:ext cx="2839680" cy="47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14C2AE4-3306-4575-A310-56F65805D50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/>
          <p:cNvSpPr/>
          <p:nvPr/>
        </p:nvSpPr>
        <p:spPr>
          <a:xfrm>
            <a:off x="2970360" y="2159280"/>
            <a:ext cx="6248160" cy="8125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zh-CN" sz="4000" b="1" u="none" strike="noStrike">
                <a:solidFill>
                  <a:srgbClr val="F0F5FF"/>
                </a:solidFill>
                <a:effectLst/>
                <a:uFillTx/>
                <a:latin typeface="Noto Sans CJK SC"/>
                <a:ea typeface="Noto Sans CJK SC"/>
              </a:rPr>
              <a:t>康希诺生物数字化落地方案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Noto Sans CJK SC"/>
            </a:endParaRPr>
          </a:p>
        </p:txBody>
      </p:sp>
      <p:sp>
        <p:nvSpPr>
          <p:cNvPr id="10" name="AutoShape 3"/>
          <p:cNvSpPr/>
          <p:nvPr/>
        </p:nvSpPr>
        <p:spPr>
          <a:xfrm>
            <a:off x="4570560" y="3809880"/>
            <a:ext cx="3047760" cy="30492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0E0D0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lang="zh-CN" sz="2600" b="1" u="none" strike="noStrike">
                <a:solidFill>
                  <a:srgbClr val="40E0D0"/>
                </a:solidFill>
                <a:effectLst/>
                <a:uFillTx/>
                <a:latin typeface="Noto Sans CJK SC"/>
                <a:ea typeface="Noto Sans CJK SC"/>
              </a:rPr>
              <a:t>驱动开发效能提升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Noto Sans CJK SC"/>
            </a:endParaRPr>
          </a:p>
        </p:txBody>
      </p:sp>
      <p:sp>
        <p:nvSpPr>
          <p:cNvPr id="11" name="AutoShape 4"/>
          <p:cNvSpPr/>
          <p:nvPr/>
        </p:nvSpPr>
        <p:spPr>
          <a:xfrm>
            <a:off x="5029200" y="5562720"/>
            <a:ext cx="2133360" cy="60948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C8D2E6">
                    <a:alpha val="90000"/>
                  </a:srgbClr>
                </a:solidFill>
                <a:effectLst/>
                <a:uFillTx/>
                <a:latin typeface="Noto Sans CJK SC"/>
                <a:ea typeface="Noto Sans CJK SC"/>
              </a:rPr>
              <a:t>康希诺生物股份公司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SC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8D2E6">
                    <a:alpha val="90000"/>
                  </a:srgbClr>
                </a:solidFill>
                <a:effectLst/>
                <a:uFillTx/>
                <a:latin typeface="Noto Sans CJK SC"/>
                <a:ea typeface="Noto Sans CJK SC"/>
              </a:rPr>
              <a:t>2026.9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"/>
          <p:cNvGraphicFramePr/>
          <p:nvPr/>
        </p:nvGraphicFramePr>
        <p:xfrm>
          <a:off x="837000" y="1685520"/>
          <a:ext cx="10515240" cy="4147920"/>
        </p:xfrm>
        <a:graphic>
          <a:graphicData uri="http://schemas.openxmlformats.org/drawingml/2006/table">
            <a:tbl>
              <a:tblPr/>
              <a:tblGrid>
                <a:gridCol w="3504240"/>
                <a:gridCol w="3504240"/>
                <a:gridCol w="350676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zh-C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维度</a:t>
                      </a:r>
                      <a:endParaRPr lang="en-US" sz="18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zh-C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传统软件开发</a:t>
                      </a:r>
                      <a:endParaRPr lang="en-US" sz="18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AI</a:t>
                      </a:r>
                      <a:r>
                        <a:rPr lang="zh-C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驱动开发</a:t>
                      </a:r>
                      <a:endParaRPr lang="en-US" sz="18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需求澄清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多轮人工沟通，口径靠会议逐次对齐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AI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按目标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约束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边界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/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异常多轮追问，一次收敛为结构化需求单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蓝图与选型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依赖个人经验与既往选型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多方案自动生成，选型矩阵量化对比，风险前置识别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编码分工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人逐行编写全部代码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人负责设计把关，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AI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生成骨架与重复代码，人审查决策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测试验证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末端人工设计用例与回归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用例先于代码存在，覆盖系统性穷举，质量过程内建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文档沉淀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文档滞后手工补写，知识随人流动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文档随代码同源生成，知识自动沉淀于组织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角色结构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大量重复性编写岗位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以设计、审查、决策为主的复合型角色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人才成长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依赖项目年限缓慢积累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导师带教叠加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AI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加速，边干边学快速成材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/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技术栈依赖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/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依赖团队成员的经历和经验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/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借用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AI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能力选择更合理的方案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grpSp>
        <p:nvGrpSpPr>
          <p:cNvPr id="13" name=""/>
          <p:cNvGrpSpPr/>
          <p:nvPr/>
        </p:nvGrpSpPr>
        <p:grpSpPr>
          <a:xfrm>
            <a:off x="326160" y="228960"/>
            <a:ext cx="3788640" cy="532440"/>
            <a:chOff x="326160" y="228960"/>
            <a:chExt cx="3788640" cy="532440"/>
          </a:xfrm>
        </p:grpSpPr>
        <p:sp>
          <p:nvSpPr>
            <p:cNvPr id="14" name=""/>
            <p:cNvSpPr txBox="1"/>
            <p:nvPr/>
          </p:nvSpPr>
          <p:spPr>
            <a:xfrm>
              <a:off x="1190880" y="228960"/>
              <a:ext cx="29239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开发范式转变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26160" y="32652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685800" y="32688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"/>
          <p:cNvGrpSpPr/>
          <p:nvPr/>
        </p:nvGrpSpPr>
        <p:grpSpPr>
          <a:xfrm>
            <a:off x="326160" y="228600"/>
            <a:ext cx="3788640" cy="532440"/>
            <a:chOff x="326160" y="228600"/>
            <a:chExt cx="3788640" cy="532440"/>
          </a:xfrm>
        </p:grpSpPr>
        <p:sp>
          <p:nvSpPr>
            <p:cNvPr id="18" name=""/>
            <p:cNvSpPr txBox="1"/>
            <p:nvPr/>
          </p:nvSpPr>
          <p:spPr>
            <a:xfrm>
              <a:off x="1190880" y="228600"/>
              <a:ext cx="29239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数字化开发蓝图议程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326160" y="32616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685800" y="32652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" name=""/>
          <p:cNvSpPr/>
          <p:nvPr/>
        </p:nvSpPr>
        <p:spPr>
          <a:xfrm>
            <a:off x="6629400" y="2057400"/>
            <a:ext cx="4572000" cy="604080"/>
          </a:xfrm>
          <a:prstGeom prst="roundRect">
            <a:avLst>
              <a:gd name="adj" fmla="val 16667"/>
            </a:avLst>
          </a:prstGeom>
          <a:noFill/>
          <a:ln w="1908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280" tIns="35280" rIns="80280" bIns="3528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858000" y="2057400"/>
            <a:ext cx="4114800" cy="60408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2800" b="1" u="none" strike="noStrike">
                <a:solidFill>
                  <a:srgbClr val="168253"/>
                </a:solidFill>
                <a:effectLst/>
                <a:uFillTx/>
                <a:latin typeface="Noto Sans CJK SC"/>
                <a:ea typeface="Noto Sans CJK SC"/>
              </a:rPr>
              <a:t>01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           AI</a:t>
            </a:r>
            <a:r>
              <a:rPr lang="zh-CN" sz="28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助力开发流程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6629400" y="2971800"/>
            <a:ext cx="4572000" cy="604080"/>
          </a:xfrm>
          <a:prstGeom prst="roundRect">
            <a:avLst>
              <a:gd name="adj" fmla="val 16667"/>
            </a:avLst>
          </a:prstGeom>
          <a:noFill/>
          <a:ln w="1908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280" tIns="35280" rIns="80280" bIns="3528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858000" y="2971800"/>
            <a:ext cx="4114800" cy="60408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2800" b="1" u="none" strike="noStrike">
                <a:solidFill>
                  <a:srgbClr val="BE480A"/>
                </a:solidFill>
                <a:effectLst/>
                <a:uFillTx/>
                <a:latin typeface="Noto Sans CJK SC"/>
                <a:ea typeface="Noto Sans CJK SC"/>
              </a:rPr>
              <a:t>02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       </a:t>
            </a:r>
            <a:r>
              <a:rPr lang="zh-CN" sz="28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开发支撑体系建设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6629400" y="3886200"/>
            <a:ext cx="4572000" cy="604080"/>
          </a:xfrm>
          <a:prstGeom prst="roundRect">
            <a:avLst>
              <a:gd name="adj" fmla="val 16667"/>
            </a:avLst>
          </a:prstGeom>
          <a:noFill/>
          <a:ln w="1908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280" tIns="35280" rIns="80280" bIns="3528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6858000" y="3886200"/>
            <a:ext cx="4114800" cy="60408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2800" b="1" u="none" strike="noStrike">
                <a:solidFill>
                  <a:srgbClr val="729FCF"/>
                </a:solidFill>
                <a:effectLst/>
                <a:uFillTx/>
                <a:latin typeface="Noto Sans CJK SC"/>
                <a:ea typeface="Noto Sans CJK SC"/>
              </a:rPr>
              <a:t>03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       AI</a:t>
            </a:r>
            <a:r>
              <a:rPr lang="zh-CN" sz="28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能力平台与场景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6629400" y="4800600"/>
            <a:ext cx="4572000" cy="604080"/>
          </a:xfrm>
          <a:prstGeom prst="roundRect">
            <a:avLst>
              <a:gd name="adj" fmla="val 16667"/>
            </a:avLst>
          </a:prstGeom>
          <a:noFill/>
          <a:ln w="1908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0280" tIns="35280" rIns="80280" bIns="3528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858000" y="4800600"/>
            <a:ext cx="4114800" cy="60408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2800" b="1" u="none" strike="noStrike">
                <a:solidFill>
                  <a:srgbClr val="FFFF6D"/>
                </a:solidFill>
                <a:effectLst/>
                <a:uFillTx/>
                <a:latin typeface="Noto Sans CJK SC"/>
                <a:ea typeface="Noto Sans CJK SC"/>
              </a:rPr>
              <a:t>04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           </a:t>
            </a:r>
            <a:r>
              <a:rPr lang="zh-CN" sz="28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实施路径与保障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"/>
          <p:cNvGrpSpPr/>
          <p:nvPr/>
        </p:nvGrpSpPr>
        <p:grpSpPr>
          <a:xfrm>
            <a:off x="326160" y="228960"/>
            <a:ext cx="3788640" cy="532440"/>
            <a:chOff x="326160" y="228960"/>
            <a:chExt cx="3788640" cy="532440"/>
          </a:xfrm>
        </p:grpSpPr>
        <p:sp>
          <p:nvSpPr>
            <p:cNvPr id="30" name=""/>
            <p:cNvSpPr txBox="1"/>
            <p:nvPr/>
          </p:nvSpPr>
          <p:spPr>
            <a:xfrm>
              <a:off x="1190880" y="228960"/>
              <a:ext cx="29239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AI</a:t>
              </a: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助力开发流程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326160" y="32652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685800" y="32688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" name=""/>
          <p:cNvGrpSpPr/>
          <p:nvPr/>
        </p:nvGrpSpPr>
        <p:grpSpPr>
          <a:xfrm>
            <a:off x="951120" y="4457880"/>
            <a:ext cx="10287000" cy="1143000"/>
            <a:chOff x="951120" y="4457880"/>
            <a:chExt cx="10287000" cy="1143000"/>
          </a:xfrm>
        </p:grpSpPr>
        <p:sp>
          <p:nvSpPr>
            <p:cNvPr id="34" name=""/>
            <p:cNvSpPr/>
            <p:nvPr/>
          </p:nvSpPr>
          <p:spPr>
            <a:xfrm>
              <a:off x="951120" y="4457880"/>
              <a:ext cx="1143000" cy="1143000"/>
            </a:xfrm>
            <a:prstGeom prst="rect">
              <a:avLst/>
            </a:prstGeom>
            <a:solidFill>
              <a:schemeClr val="accent1"/>
            </a:solidFill>
            <a:ln w="1008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6320" tIns="31320" rIns="76320" bIns="3132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需求梳理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2779920" y="4457880"/>
              <a:ext cx="1143000" cy="1143000"/>
            </a:xfrm>
            <a:prstGeom prst="rect">
              <a:avLst/>
            </a:prstGeom>
            <a:solidFill>
              <a:schemeClr val="accent1"/>
            </a:solidFill>
            <a:ln w="1008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6320" tIns="31320" rIns="76320" bIns="3132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蓝图设计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2191680" y="4915080"/>
              <a:ext cx="588240" cy="228600"/>
            </a:xfrm>
            <a:custGeom>
              <a:avLst/>
              <a:gdLst>
                <a:gd name="textAreaLeft" fmla="*/ 73440 w 588240"/>
                <a:gd name="textAreaRight" fmla="*/ 514800 w 588240"/>
                <a:gd name="textAreaTop" fmla="*/ 57240 h 228600"/>
                <a:gd name="textAreaBottom" fmla="*/ 171720 h 22860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5400"/>
                  </a:moveTo>
                  <a:lnTo>
                    <a:pt x="16200" y="540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16200" y="16200"/>
                  </a:lnTo>
                  <a:lnTo>
                    <a:pt x="0" y="16200"/>
                  </a:lnTo>
                  <a:lnTo>
                    <a:pt x="2700" y="108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4020480" y="4915080"/>
              <a:ext cx="588240" cy="228600"/>
            </a:xfrm>
            <a:custGeom>
              <a:avLst/>
              <a:gdLst>
                <a:gd name="textAreaLeft" fmla="*/ 73440 w 588240"/>
                <a:gd name="textAreaRight" fmla="*/ 514800 w 588240"/>
                <a:gd name="textAreaTop" fmla="*/ 57240 h 228600"/>
                <a:gd name="textAreaBottom" fmla="*/ 171720 h 22860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5400"/>
                  </a:moveTo>
                  <a:lnTo>
                    <a:pt x="16200" y="540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16200" y="16200"/>
                  </a:lnTo>
                  <a:lnTo>
                    <a:pt x="0" y="16200"/>
                  </a:lnTo>
                  <a:lnTo>
                    <a:pt x="2700" y="108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4608720" y="4457880"/>
              <a:ext cx="1143000" cy="1143000"/>
            </a:xfrm>
            <a:prstGeom prst="rect">
              <a:avLst/>
            </a:prstGeom>
            <a:solidFill>
              <a:schemeClr val="accent1"/>
            </a:solidFill>
            <a:ln w="1008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6320" tIns="31320" rIns="76320" bIns="3132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接口模型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5849280" y="4915080"/>
              <a:ext cx="588240" cy="228600"/>
            </a:xfrm>
            <a:custGeom>
              <a:avLst/>
              <a:gdLst>
                <a:gd name="textAreaLeft" fmla="*/ 73440 w 588240"/>
                <a:gd name="textAreaRight" fmla="*/ 514800 w 588240"/>
                <a:gd name="textAreaTop" fmla="*/ 57240 h 228600"/>
                <a:gd name="textAreaBottom" fmla="*/ 171720 h 22860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5400"/>
                  </a:moveTo>
                  <a:lnTo>
                    <a:pt x="16200" y="540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16200" y="16200"/>
                  </a:lnTo>
                  <a:lnTo>
                    <a:pt x="0" y="16200"/>
                  </a:lnTo>
                  <a:lnTo>
                    <a:pt x="2700" y="108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6437520" y="4457880"/>
              <a:ext cx="1143000" cy="1143000"/>
            </a:xfrm>
            <a:prstGeom prst="rect">
              <a:avLst/>
            </a:prstGeom>
            <a:solidFill>
              <a:schemeClr val="accent1"/>
            </a:solidFill>
            <a:ln w="1008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6320" tIns="31320" rIns="76320" bIns="3132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编码实现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7678080" y="4915080"/>
              <a:ext cx="588240" cy="228600"/>
            </a:xfrm>
            <a:custGeom>
              <a:avLst/>
              <a:gdLst>
                <a:gd name="textAreaLeft" fmla="*/ 73440 w 588240"/>
                <a:gd name="textAreaRight" fmla="*/ 514800 w 588240"/>
                <a:gd name="textAreaTop" fmla="*/ 57240 h 228600"/>
                <a:gd name="textAreaBottom" fmla="*/ 171720 h 22860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5400"/>
                  </a:moveTo>
                  <a:lnTo>
                    <a:pt x="16200" y="540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16200" y="16200"/>
                  </a:lnTo>
                  <a:lnTo>
                    <a:pt x="0" y="16200"/>
                  </a:lnTo>
                  <a:lnTo>
                    <a:pt x="2700" y="108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8266320" y="4457880"/>
              <a:ext cx="1143000" cy="1143000"/>
            </a:xfrm>
            <a:prstGeom prst="rect">
              <a:avLst/>
            </a:prstGeom>
            <a:solidFill>
              <a:schemeClr val="accent1"/>
            </a:solidFill>
            <a:ln w="1008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6320" tIns="31320" rIns="76320" bIns="3132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测试验证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9506880" y="4915080"/>
              <a:ext cx="588240" cy="228600"/>
            </a:xfrm>
            <a:custGeom>
              <a:avLst/>
              <a:gdLst>
                <a:gd name="textAreaLeft" fmla="*/ 73440 w 588240"/>
                <a:gd name="textAreaRight" fmla="*/ 514800 w 588240"/>
                <a:gd name="textAreaTop" fmla="*/ 57240 h 228600"/>
                <a:gd name="textAreaBottom" fmla="*/ 171720 h 22860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5400"/>
                  </a:moveTo>
                  <a:lnTo>
                    <a:pt x="16200" y="540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16200" y="16200"/>
                  </a:lnTo>
                  <a:lnTo>
                    <a:pt x="0" y="16200"/>
                  </a:lnTo>
                  <a:lnTo>
                    <a:pt x="2700" y="108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10095120" y="4457880"/>
              <a:ext cx="1143000" cy="1143000"/>
            </a:xfrm>
            <a:prstGeom prst="rect">
              <a:avLst/>
            </a:prstGeom>
            <a:solidFill>
              <a:schemeClr val="accent1"/>
            </a:solidFill>
            <a:ln w="1008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6320" tIns="31320" rIns="76320" bIns="3132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文档交付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"/>
          <p:cNvSpPr txBox="1"/>
          <p:nvPr/>
        </p:nvSpPr>
        <p:spPr>
          <a:xfrm>
            <a:off x="2635560" y="1828800"/>
            <a:ext cx="6918120" cy="1270800"/>
          </a:xfrm>
          <a:prstGeom prst="rect">
            <a:avLst/>
          </a:prstGeom>
          <a:noFill/>
          <a:ln w="38160">
            <a:noFill/>
          </a:ln>
        </p:spPr>
        <p:txBody>
          <a:bodyPr wrap="none" lIns="90000" tIns="45000" rIns="90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一个新需求，即便初始输入仅是模糊的业务描述，也可依托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AI </a:t>
            </a: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沿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「需求梳理 → 蓝图设计 → 接口模型 → 编码实现 → 测试验证 → 文档交付」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六个环节逐步推进，直至完成交付。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"/>
          <p:cNvGrpSpPr/>
          <p:nvPr/>
        </p:nvGrpSpPr>
        <p:grpSpPr>
          <a:xfrm>
            <a:off x="326160" y="229320"/>
            <a:ext cx="4703040" cy="532440"/>
            <a:chOff x="326160" y="229320"/>
            <a:chExt cx="4703040" cy="532440"/>
          </a:xfrm>
        </p:grpSpPr>
        <p:sp>
          <p:nvSpPr>
            <p:cNvPr id="47" name=""/>
            <p:cNvSpPr txBox="1"/>
            <p:nvPr/>
          </p:nvSpPr>
          <p:spPr>
            <a:xfrm>
              <a:off x="1190880" y="229320"/>
              <a:ext cx="38383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AI</a:t>
              </a: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助力开发流程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Arial"/>
                  <a:ea typeface="Source Han Sans SC"/>
                </a:rPr>
                <a:t>需求梳理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326160" y="32688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685800" y="32724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" name=""/>
          <p:cNvGrpSpPr/>
          <p:nvPr/>
        </p:nvGrpSpPr>
        <p:grpSpPr>
          <a:xfrm>
            <a:off x="493920" y="1600200"/>
            <a:ext cx="11201400" cy="3200400"/>
            <a:chOff x="493920" y="1600200"/>
            <a:chExt cx="11201400" cy="3200400"/>
          </a:xfrm>
        </p:grpSpPr>
        <p:sp>
          <p:nvSpPr>
            <p:cNvPr id="51" name="AutoShape 1"/>
            <p:cNvSpPr/>
            <p:nvPr/>
          </p:nvSpPr>
          <p:spPr>
            <a:xfrm>
              <a:off x="493920" y="1600200"/>
              <a:ext cx="5397120" cy="32004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AutoShape 5"/>
            <p:cNvSpPr/>
            <p:nvPr/>
          </p:nvSpPr>
          <p:spPr>
            <a:xfrm>
              <a:off x="748080" y="18543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BEFORE·</a:t>
              </a:r>
              <a:r>
                <a:rPr lang="zh-CN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传统模式痛点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AutoShape 6"/>
            <p:cNvSpPr/>
            <p:nvPr/>
          </p:nvSpPr>
          <p:spPr>
            <a:xfrm>
              <a:off x="74808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•业务方提出需求（如</a:t>
              </a: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希望查询批签发状态</a:t>
              </a: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）后，开发、业务、测试需多轮沟通仍难以确认口径，需求确认周期常以周计。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•用户故事与验收标准依赖产品经理人工撰写，遗漏条款通常在测试阶段才暴露。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•同一需求在业务、开发、测试三方理解不一致，缺乏对齐机制，分歧在交付验收时才显现。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同类功能调研依赖人工检索，效率低且覆盖不全。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54" name="AutoShape 7"/>
            <p:cNvSpPr/>
            <p:nvPr/>
          </p:nvSpPr>
          <p:spPr>
            <a:xfrm>
              <a:off x="6298200" y="1600200"/>
              <a:ext cx="5397120" cy="32004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AutoShape 8"/>
            <p:cNvSpPr/>
            <p:nvPr/>
          </p:nvSpPr>
          <p:spPr>
            <a:xfrm>
              <a:off x="6552000" y="18543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AFTER·AI</a:t>
              </a:r>
              <a:r>
                <a:rPr lang="zh-CN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智能赋能升级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AutoShape 9"/>
            <p:cNvSpPr/>
            <p:nvPr/>
          </p:nvSpPr>
          <p:spPr>
            <a:xfrm>
              <a:off x="655200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33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en-US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需求澄清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：将业务原始诉求输入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，由其按目标、约束、边界、异常处理四个维度生成澄清问题，短期内收敛为字段完整、口径统一的结构化需求单，人工仅做确认审定。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用户故事与验收标准生成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Given-When-Then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格式的初稿由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 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产出，产品经理的工作由起草转向审核，遗漏项由模板机制兜底。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需求单一事实源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：结构化需求单作为三方对齐的唯一依据，模糊表述均要求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给出定义与示例，理解偏差在评审前即暴露并消除。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en-US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辅助调研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：同类功能的实现方式与常见问题由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汇总为要点清单，调研效率显著提升。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</p:grpSp>
      <p:grpSp>
        <p:nvGrpSpPr>
          <p:cNvPr id="57" name=""/>
          <p:cNvGrpSpPr/>
          <p:nvPr/>
        </p:nvGrpSpPr>
        <p:grpSpPr>
          <a:xfrm>
            <a:off x="493920" y="5260320"/>
            <a:ext cx="11201400" cy="1269720"/>
            <a:chOff x="493920" y="5260320"/>
            <a:chExt cx="11201400" cy="1269720"/>
          </a:xfrm>
        </p:grpSpPr>
        <p:sp>
          <p:nvSpPr>
            <p:cNvPr id="58" name="AutoShape 10"/>
            <p:cNvSpPr/>
            <p:nvPr/>
          </p:nvSpPr>
          <p:spPr>
            <a:xfrm>
              <a:off x="493920" y="5260320"/>
              <a:ext cx="1120140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AutoShape 11"/>
            <p:cNvSpPr/>
            <p:nvPr/>
          </p:nvSpPr>
          <p:spPr>
            <a:xfrm>
              <a:off x="799200" y="5387400"/>
              <a:ext cx="660348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8000"/>
                </a:lnSpc>
                <a:tabLst>
                  <a:tab pos="0" algn="l"/>
                </a:tabLst>
              </a:pP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SC"/>
                  <a:ea typeface="Noto Sans SC"/>
                </a:rPr>
                <a:t>模糊需求一键结构化，实现全流程效率跃升</a:t>
              </a:r>
              <a:br>
                <a:rPr sz="1600"/>
              </a:br>
              <a:r>
                <a:rPr lang="zh-CN" sz="1300" b="0" u="none" strike="noStrike">
                  <a:solidFill>
                    <a:srgbClr val="E6EEF5">
                      <a:alpha val="85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告别低效的人工反复确认，</a:t>
              </a:r>
              <a:r>
                <a:rPr lang="en-US" sz="1300" b="0" u="none" strike="noStrike">
                  <a:solidFill>
                    <a:srgbClr val="E6EEF5">
                      <a:alpha val="85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85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让需求梳理从“人工堆砌”转向“智能智造”，大幅降低沟通成本与返工率。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AutoShape 12"/>
            <p:cNvSpPr/>
            <p:nvPr/>
          </p:nvSpPr>
          <p:spPr>
            <a:xfrm>
              <a:off x="8546040" y="5450760"/>
              <a:ext cx="292068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algn="ctr"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32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50%+</a:t>
              </a:r>
              <a:br>
                <a:rPr sz="1600"/>
              </a:br>
              <a:r>
                <a:rPr lang="zh-CN" sz="1400" b="0" u="none" strike="noStrike">
                  <a:solidFill>
                    <a:srgbClr val="E6EEF5">
                      <a:alpha val="90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整体需求处理效率提升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"/>
          <p:cNvGrpSpPr/>
          <p:nvPr/>
        </p:nvGrpSpPr>
        <p:grpSpPr>
          <a:xfrm>
            <a:off x="326160" y="229680"/>
            <a:ext cx="4703040" cy="532440"/>
            <a:chOff x="326160" y="229680"/>
            <a:chExt cx="4703040" cy="532440"/>
          </a:xfrm>
        </p:grpSpPr>
        <p:sp>
          <p:nvSpPr>
            <p:cNvPr id="62" name=""/>
            <p:cNvSpPr txBox="1"/>
            <p:nvPr/>
          </p:nvSpPr>
          <p:spPr>
            <a:xfrm>
              <a:off x="1190880" y="229680"/>
              <a:ext cx="38383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AI</a:t>
              </a: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助力开发流程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Arial"/>
                  <a:ea typeface="Source Han Sans SC"/>
                </a:rPr>
                <a:t>蓝图设计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326160" y="32724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685800" y="3276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" name=""/>
          <p:cNvGrpSpPr/>
          <p:nvPr/>
        </p:nvGrpSpPr>
        <p:grpSpPr>
          <a:xfrm>
            <a:off x="478440" y="914400"/>
            <a:ext cx="11232360" cy="4114800"/>
            <a:chOff x="478440" y="914400"/>
            <a:chExt cx="11232360" cy="4114800"/>
          </a:xfrm>
        </p:grpSpPr>
        <p:sp>
          <p:nvSpPr>
            <p:cNvPr id="66" name="AutoShape 1"/>
            <p:cNvSpPr/>
            <p:nvPr/>
          </p:nvSpPr>
          <p:spPr>
            <a:xfrm>
              <a:off x="478440" y="914400"/>
              <a:ext cx="5397120" cy="41022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AutoShape 5"/>
            <p:cNvSpPr/>
            <p:nvPr/>
          </p:nvSpPr>
          <p:spPr>
            <a:xfrm>
              <a:off x="769680" y="104364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BEFORE·</a:t>
              </a:r>
              <a:r>
                <a:rPr lang="zh-CN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传统模式痛点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AutoShape 6"/>
            <p:cNvSpPr/>
            <p:nvPr/>
          </p:nvSpPr>
          <p:spPr>
            <a:xfrm>
              <a:off x="76968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•架构方案依赖少数资深工程师，其时间投入成为项目瓶颈；方案深度受限于个人经验边界。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•技术选型缺乏系统评估，多以既往使用经验为依据，契合度、生态、学习曲线与长期维护成本难以横向比较。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•技术风险（单点故障、数据一致性、性能瓶颈等）多在编码过半时暴露，返工代价最高。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方案对比与决策材料依赖人工整理，编写周期长，评审效率低。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GMP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数据完整性、等级保护、数据安全法等合规要求需事后逐项咨询确认，架构设计与合规要求脱节。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69" name="AutoShape 7"/>
            <p:cNvSpPr/>
            <p:nvPr/>
          </p:nvSpPr>
          <p:spPr>
            <a:xfrm>
              <a:off x="6313680" y="914400"/>
              <a:ext cx="5397120" cy="41148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AutoShape 8"/>
            <p:cNvSpPr/>
            <p:nvPr/>
          </p:nvSpPr>
          <p:spPr>
            <a:xfrm>
              <a:off x="6562080" y="10245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AFTER·AI</a:t>
              </a:r>
              <a:r>
                <a:rPr lang="zh-CN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智能赋能升级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AutoShape 9"/>
            <p:cNvSpPr/>
            <p:nvPr/>
          </p:nvSpPr>
          <p:spPr>
            <a:xfrm>
              <a:off x="6573600" y="1539000"/>
              <a:ext cx="4889160" cy="33141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33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多方案生成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：基于结构化需求，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输出单体、微服务、事件驱动等多种候选架构，并分别说明适用条件与代价；团队工作重心转为方案评估与组合优化。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技术选型对比矩阵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按性能、生态成熟度、团队熟悉度、合规契合、维护成本等维度生成对比评分表，每项选择均有依据、可答辩。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对抗式风险评审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以运维、安全、审计等多视角对方案进行审查，风险清单在编码开始前形成；风险前置是蓝图环节的核心收益。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决策记录自动生成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：对比矩阵与架构决策记录（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ADR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）初稿由 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完成，评审会由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听取汇报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转变为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直接决策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合规约束预置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：将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GMP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、数据分级等要求作为约束输入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分析上下文，架构设计自初始阶段即包含合规视角。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</p:grpSp>
      <p:grpSp>
        <p:nvGrpSpPr>
          <p:cNvPr id="72" name=""/>
          <p:cNvGrpSpPr/>
          <p:nvPr/>
        </p:nvGrpSpPr>
        <p:grpSpPr>
          <a:xfrm>
            <a:off x="475200" y="5260320"/>
            <a:ext cx="11238480" cy="1269720"/>
            <a:chOff x="475200" y="5260320"/>
            <a:chExt cx="11238480" cy="1269720"/>
          </a:xfrm>
        </p:grpSpPr>
        <p:sp>
          <p:nvSpPr>
            <p:cNvPr id="73" name="AutoShape 10"/>
            <p:cNvSpPr/>
            <p:nvPr/>
          </p:nvSpPr>
          <p:spPr>
            <a:xfrm>
              <a:off x="475200" y="526032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AutoShape 12"/>
            <p:cNvSpPr/>
            <p:nvPr/>
          </p:nvSpPr>
          <p:spPr>
            <a:xfrm>
              <a:off x="8553960" y="545076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 txBox="1"/>
            <p:nvPr/>
          </p:nvSpPr>
          <p:spPr>
            <a:xfrm>
              <a:off x="785880" y="5580720"/>
              <a:ext cx="10654920" cy="67608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zh-CN" sz="1600" b="0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核心收益：架构设计效率提升 </a:t>
              </a:r>
              <a:r>
                <a:rPr lang="en-US" sz="1600" b="1" u="none" strike="noStrike">
                  <a:solidFill>
                    <a:srgbClr val="FFD700"/>
                  </a:solidFill>
                  <a:effectLst/>
                  <a:uFillTx/>
                  <a:latin typeface="Noto Sans CJK SC"/>
                  <a:ea typeface="Noto Sans CJK SC"/>
                </a:rPr>
                <a:t>40%+</a:t>
              </a:r>
              <a:r>
                <a:rPr lang="zh-CN" sz="1600" b="0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，实现从“经验驱动”到“数据智能驱动”的范式转变，将技术风险前置化解，大幅降低后期维护成本。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"/>
          <p:cNvGrpSpPr/>
          <p:nvPr/>
        </p:nvGrpSpPr>
        <p:grpSpPr>
          <a:xfrm>
            <a:off x="326160" y="230040"/>
            <a:ext cx="4703040" cy="532440"/>
            <a:chOff x="326160" y="230040"/>
            <a:chExt cx="4703040" cy="532440"/>
          </a:xfrm>
        </p:grpSpPr>
        <p:sp>
          <p:nvSpPr>
            <p:cNvPr id="77" name=""/>
            <p:cNvSpPr txBox="1"/>
            <p:nvPr/>
          </p:nvSpPr>
          <p:spPr>
            <a:xfrm>
              <a:off x="1190880" y="230040"/>
              <a:ext cx="38383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AI</a:t>
              </a: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助力开发流程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Arial"/>
                  <a:ea typeface="Source Han Sans SC"/>
                </a:rPr>
                <a:t>接口模型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326160" y="3276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685800" y="32796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0" name=""/>
          <p:cNvGrpSpPr/>
          <p:nvPr/>
        </p:nvGrpSpPr>
        <p:grpSpPr>
          <a:xfrm>
            <a:off x="494280" y="1600200"/>
            <a:ext cx="11201400" cy="3200400"/>
            <a:chOff x="494280" y="1600200"/>
            <a:chExt cx="11201400" cy="3200400"/>
          </a:xfrm>
        </p:grpSpPr>
        <p:sp>
          <p:nvSpPr>
            <p:cNvPr id="81" name="AutoShape 1"/>
            <p:cNvSpPr/>
            <p:nvPr/>
          </p:nvSpPr>
          <p:spPr>
            <a:xfrm>
              <a:off x="494280" y="1600200"/>
              <a:ext cx="5397120" cy="32004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AutoShape 5"/>
            <p:cNvSpPr/>
            <p:nvPr/>
          </p:nvSpPr>
          <p:spPr>
            <a:xfrm>
              <a:off x="748440" y="18543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BEFORE·</a:t>
              </a:r>
              <a:r>
                <a:rPr lang="zh-CN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传统模式痛点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AutoShape 6"/>
            <p:cNvSpPr/>
            <p:nvPr/>
          </p:nvSpPr>
          <p:spPr>
            <a:xfrm>
              <a:off x="74844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•PRD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与接口设计依赖人工起草，字段级细节易遗漏，问题集中在联调阶段暴露。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•命名、错误码、分页等风格各模块不统一，接口对齐依赖口头沟通与零散记录。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•数据模型多次变更后，文档、代码、库表三者不同步，以文档还是以代码为准难以界定。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AutoShape 7"/>
            <p:cNvSpPr/>
            <p:nvPr/>
          </p:nvSpPr>
          <p:spPr>
            <a:xfrm>
              <a:off x="6298560" y="1600200"/>
              <a:ext cx="5397120" cy="32004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AutoShape 8"/>
            <p:cNvSpPr/>
            <p:nvPr/>
          </p:nvSpPr>
          <p:spPr>
            <a:xfrm>
              <a:off x="6552360" y="18543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AFTER·AI</a:t>
              </a:r>
              <a:r>
                <a:rPr lang="zh-CN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智能赋能升级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AutoShape 9"/>
            <p:cNvSpPr/>
            <p:nvPr/>
          </p:nvSpPr>
          <p:spPr>
            <a:xfrm>
              <a:off x="655236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33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契约生成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 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基于结构化需求与 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PRD 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生成字段级接口定义（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OpenAPI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）与数据模型建议，评审对象由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起草物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变为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修订物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团队规范内置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：将命名、错误码、分页规范作为约束提供给 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，生成结果即符合规范，新增接口与存量接口保持同构。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契约即事实源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：模型变更由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同步更新契约与文档，前后端基于同一份契约并行开发，联调为验证过程而非发现过程。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</p:grpSp>
      <p:grpSp>
        <p:nvGrpSpPr>
          <p:cNvPr id="87" name=""/>
          <p:cNvGrpSpPr/>
          <p:nvPr/>
        </p:nvGrpSpPr>
        <p:grpSpPr>
          <a:xfrm>
            <a:off x="494280" y="5260680"/>
            <a:ext cx="11201400" cy="1269720"/>
            <a:chOff x="494280" y="5260680"/>
            <a:chExt cx="11201400" cy="1269720"/>
          </a:xfrm>
        </p:grpSpPr>
        <p:sp>
          <p:nvSpPr>
            <p:cNvPr id="88" name="AutoShape 10"/>
            <p:cNvSpPr/>
            <p:nvPr/>
          </p:nvSpPr>
          <p:spPr>
            <a:xfrm>
              <a:off x="494280" y="5260680"/>
              <a:ext cx="1120140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AutoShape 11"/>
            <p:cNvSpPr/>
            <p:nvPr/>
          </p:nvSpPr>
          <p:spPr>
            <a:xfrm>
              <a:off x="799560" y="5387760"/>
              <a:ext cx="1063044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08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联调阶段接口类问题前移至设计阶段解决</a:t>
              </a:r>
              <a:br>
                <a:rPr sz="1600"/>
              </a:br>
              <a:r>
                <a:rPr lang="zh-CN" sz="1300" b="0" u="none" strike="noStrike">
                  <a:solidFill>
                    <a:srgbClr val="E6EEF5">
                      <a:alpha val="85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先立契约、再动工。接口契约在</a:t>
              </a:r>
              <a:r>
                <a:rPr lang="en-US" sz="1300" b="0" u="none" strike="noStrike">
                  <a:solidFill>
                    <a:srgbClr val="E6EEF5">
                      <a:alpha val="85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85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辅助下前置确定，跨团队协作的不确定性显著下降。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"/>
          <p:cNvGrpSpPr/>
          <p:nvPr/>
        </p:nvGrpSpPr>
        <p:grpSpPr>
          <a:xfrm>
            <a:off x="326160" y="230400"/>
            <a:ext cx="4703040" cy="532440"/>
            <a:chOff x="326160" y="230400"/>
            <a:chExt cx="4703040" cy="532440"/>
          </a:xfrm>
        </p:grpSpPr>
        <p:sp>
          <p:nvSpPr>
            <p:cNvPr id="91" name=""/>
            <p:cNvSpPr txBox="1"/>
            <p:nvPr/>
          </p:nvSpPr>
          <p:spPr>
            <a:xfrm>
              <a:off x="1190880" y="230400"/>
              <a:ext cx="38383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AI</a:t>
              </a: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助力开发流程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Arial"/>
                  <a:ea typeface="Source Han Sans SC"/>
                </a:rPr>
                <a:t>编码实现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326160" y="32796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685800" y="32832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4" name=""/>
          <p:cNvGrpSpPr/>
          <p:nvPr/>
        </p:nvGrpSpPr>
        <p:grpSpPr>
          <a:xfrm>
            <a:off x="478800" y="914400"/>
            <a:ext cx="11232360" cy="4114800"/>
            <a:chOff x="478800" y="914400"/>
            <a:chExt cx="11232360" cy="4114800"/>
          </a:xfrm>
        </p:grpSpPr>
        <p:sp>
          <p:nvSpPr>
            <p:cNvPr id="95" name="AutoShape 1"/>
            <p:cNvSpPr/>
            <p:nvPr/>
          </p:nvSpPr>
          <p:spPr>
            <a:xfrm>
              <a:off x="478800" y="914400"/>
              <a:ext cx="5397120" cy="41022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AutoShape 5"/>
            <p:cNvSpPr/>
            <p:nvPr/>
          </p:nvSpPr>
          <p:spPr>
            <a:xfrm>
              <a:off x="770040" y="104364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BEFORE·</a:t>
              </a:r>
              <a:r>
                <a:rPr lang="zh-CN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传统模式痛点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AutoShape 6"/>
            <p:cNvSpPr/>
            <p:nvPr/>
          </p:nvSpPr>
          <p:spPr>
            <a:xfrm>
              <a:off x="77004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•样板代码与重复性</a:t>
              </a: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CRUD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开发占据主要工时，资深工程师精力消耗于机械性编写而非设计。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•新框架、新语言上手周期长，新成员数周内难以独立提交，资深成员亦常被陌生</a:t>
              </a: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API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排查阻塞。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•遗留代码缺乏文档、命名晦涩，理解历史实现方式成本高，改动风险大，无人维护的模块持续累积。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•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代码风格因人而异，评审精力被格式、命名等基础问题消耗，逻辑与设计问题反而缺乏审查深度。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•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SC"/>
                  <a:ea typeface="Noto Sans SC"/>
                </a:rPr>
                <a:t>开发过程中频繁中断以查阅资料、编写调试脚本，工作连续性差。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AutoShape 7"/>
            <p:cNvSpPr/>
            <p:nvPr/>
          </p:nvSpPr>
          <p:spPr>
            <a:xfrm>
              <a:off x="6314040" y="914400"/>
              <a:ext cx="5397120" cy="41148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AutoShape 8"/>
            <p:cNvSpPr/>
            <p:nvPr/>
          </p:nvSpPr>
          <p:spPr>
            <a:xfrm>
              <a:off x="6562440" y="10245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AFTER·AI</a:t>
              </a:r>
              <a:r>
                <a:rPr lang="zh-CN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智能赋能升级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AutoShape 9"/>
            <p:cNvSpPr/>
            <p:nvPr/>
          </p:nvSpPr>
          <p:spPr>
            <a:xfrm>
              <a:off x="6573960" y="1539000"/>
              <a:ext cx="4889160" cy="33141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33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代码框架生成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基于接口契约生成模块骨架与重复性代码，开发者专注核心业务逻辑的填充与逐行审查，精力回归设计本身。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上下文感知补全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IDE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内的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补全理解整个工程上下文，新成员即可产出符合项目惯例的代码，技术栈上手周期显著压缩。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代码解释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：遗留模块由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逐段解释、补齐注释与文档，理解成本大幅下降，不可维护模块转为可读资产。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规范前置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：团队编码规范作为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生成约束，提交前由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完成基础检查，代码评审聚焦逻辑与设计。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连续性保障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：资料查询、调试脚本编写、报错解释等中断性动作由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就地完成，开发过程保持连贯。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</p:grpSp>
      <p:grpSp>
        <p:nvGrpSpPr>
          <p:cNvPr id="101" name=""/>
          <p:cNvGrpSpPr/>
          <p:nvPr/>
        </p:nvGrpSpPr>
        <p:grpSpPr>
          <a:xfrm>
            <a:off x="475200" y="5260680"/>
            <a:ext cx="11238480" cy="1269720"/>
            <a:chOff x="475200" y="5260680"/>
            <a:chExt cx="11238480" cy="1269720"/>
          </a:xfrm>
        </p:grpSpPr>
        <p:sp>
          <p:nvSpPr>
            <p:cNvPr id="102" name="AutoShape 10"/>
            <p:cNvSpPr/>
            <p:nvPr/>
          </p:nvSpPr>
          <p:spPr>
            <a:xfrm>
              <a:off x="475200" y="526068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AutoShape 12"/>
            <p:cNvSpPr/>
            <p:nvPr/>
          </p:nvSpPr>
          <p:spPr>
            <a:xfrm>
              <a:off x="8553960" y="545112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"/>
            <p:cNvSpPr txBox="1"/>
            <p:nvPr/>
          </p:nvSpPr>
          <p:spPr>
            <a:xfrm>
              <a:off x="785880" y="5581080"/>
              <a:ext cx="10654920" cy="3830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zh-CN" sz="1600" b="0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预期效果：编码效率提升（参考值：</a:t>
              </a:r>
              <a:r>
                <a:rPr lang="en-US" sz="1600" b="0" u="none" strike="noStrike">
                  <a:solidFill>
                    <a:srgbClr val="FFE994"/>
                  </a:solidFill>
                  <a:effectLst/>
                  <a:uFillTx/>
                  <a:latin typeface="Noto Sans CJK SC"/>
                  <a:ea typeface="Noto Sans CJK SC"/>
                </a:rPr>
                <a:t>30%</a:t>
              </a:r>
              <a:r>
                <a:rPr lang="zh-CN" sz="1600" b="0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以上），新成员上手周期显著缩短。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"/>
          <p:cNvGrpSpPr/>
          <p:nvPr/>
        </p:nvGrpSpPr>
        <p:grpSpPr>
          <a:xfrm>
            <a:off x="326160" y="230760"/>
            <a:ext cx="4703040" cy="532440"/>
            <a:chOff x="326160" y="230760"/>
            <a:chExt cx="4703040" cy="532440"/>
          </a:xfrm>
        </p:grpSpPr>
        <p:sp>
          <p:nvSpPr>
            <p:cNvPr id="106" name=""/>
            <p:cNvSpPr txBox="1"/>
            <p:nvPr/>
          </p:nvSpPr>
          <p:spPr>
            <a:xfrm>
              <a:off x="1190880" y="230760"/>
              <a:ext cx="38383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AI</a:t>
              </a: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助力开发流程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Arial"/>
                  <a:ea typeface="Source Han Sans SC"/>
                </a:rPr>
                <a:t>测试验证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326160" y="32832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685800" y="32868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" name=""/>
          <p:cNvGrpSpPr/>
          <p:nvPr/>
        </p:nvGrpSpPr>
        <p:grpSpPr>
          <a:xfrm>
            <a:off x="479160" y="914400"/>
            <a:ext cx="11232360" cy="4114800"/>
            <a:chOff x="479160" y="914400"/>
            <a:chExt cx="11232360" cy="4114800"/>
          </a:xfrm>
        </p:grpSpPr>
        <p:sp>
          <p:nvSpPr>
            <p:cNvPr id="110" name="AutoShape 1"/>
            <p:cNvSpPr/>
            <p:nvPr/>
          </p:nvSpPr>
          <p:spPr>
            <a:xfrm>
              <a:off x="479160" y="914400"/>
              <a:ext cx="5397120" cy="41022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AutoShape 5"/>
            <p:cNvSpPr/>
            <p:nvPr/>
          </p:nvSpPr>
          <p:spPr>
            <a:xfrm>
              <a:off x="770400" y="104364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BEFORE·</a:t>
              </a:r>
              <a:r>
                <a:rPr lang="zh-CN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传统模式痛点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AutoShape 6"/>
            <p:cNvSpPr/>
            <p:nvPr/>
          </p:nvSpPr>
          <p:spPr>
            <a:xfrm>
              <a:off x="77040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•用例设计依赖个人对需求的理解，覆盖以经验为限，边界与异常场景长期缺位。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•自动化脚本编写耗时、维护成本更高，界面变更后脚本批量失效，团队对自动化投入意愿持续走低。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•缺陷定位依赖人工检索日志、逐级排查，经验型判断，新成员难以胜任。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回归范围依据经验估算，全量回归效率低、缩减范围风险高，发布决策缺乏依据。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测试在流程末端介入，问题发现时代码已完成大量开发，修复代价最高。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113" name="AutoShape 7"/>
            <p:cNvSpPr/>
            <p:nvPr/>
          </p:nvSpPr>
          <p:spPr>
            <a:xfrm>
              <a:off x="6314400" y="914400"/>
              <a:ext cx="5397120" cy="41148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AutoShape 8"/>
            <p:cNvSpPr/>
            <p:nvPr/>
          </p:nvSpPr>
          <p:spPr>
            <a:xfrm>
              <a:off x="6562800" y="10245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AFTER·AI</a:t>
              </a:r>
              <a:r>
                <a:rPr lang="zh-CN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智能赋能升级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AutoShape 9"/>
            <p:cNvSpPr/>
            <p:nvPr/>
          </p:nvSpPr>
          <p:spPr>
            <a:xfrm>
              <a:off x="6574320" y="1539000"/>
              <a:ext cx="4889160" cy="33141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33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用例集生成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直接基于需求单与验收标准生成正常、边界、异常用例，人工补充业务判断；用例覆盖由经验驱动转为系统性穷举。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脚本生成与自修复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：接口与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UI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测试脚本由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起草，执行失败时 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 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先行分析并给出修复建议，维护成本降至可持续投入的水平。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缺陷智能归因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：日志与调用栈自动聚类，输出根因候选；缺陷定位由人工排查转为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"AI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诊断输入、人工最终确认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精准回归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基于变更影响分析推荐回归范围，测试效率与发布质量得以兼顾。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测试左移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：用例先于代码存在（源于验收标准），开发过程即可依此自测，质量在过程中内建，而非末端拦截。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</p:grpSp>
      <p:grpSp>
        <p:nvGrpSpPr>
          <p:cNvPr id="116" name=""/>
          <p:cNvGrpSpPr/>
          <p:nvPr/>
        </p:nvGrpSpPr>
        <p:grpSpPr>
          <a:xfrm>
            <a:off x="475200" y="5261040"/>
            <a:ext cx="11238480" cy="1269720"/>
            <a:chOff x="475200" y="5261040"/>
            <a:chExt cx="11238480" cy="1269720"/>
          </a:xfrm>
        </p:grpSpPr>
        <p:sp>
          <p:nvSpPr>
            <p:cNvPr id="117" name="AutoShape 10"/>
            <p:cNvSpPr/>
            <p:nvPr/>
          </p:nvSpPr>
          <p:spPr>
            <a:xfrm>
              <a:off x="475200" y="526104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AutoShape 12"/>
            <p:cNvSpPr/>
            <p:nvPr/>
          </p:nvSpPr>
          <p:spPr>
            <a:xfrm>
              <a:off x="8553960" y="545148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"/>
            <p:cNvSpPr txBox="1"/>
            <p:nvPr/>
          </p:nvSpPr>
          <p:spPr>
            <a:xfrm>
              <a:off x="785880" y="5581440"/>
              <a:ext cx="10654920" cy="7718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消除的不是缺陷本身，而是质量对</a:t>
              </a: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运气与经验</a:t>
              </a: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的依赖。测试策略制定与风险兜底判断，始终属于团队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r>
                <a:rPr lang="zh-CN" sz="1300" b="0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用例编写效率提升（参考值：</a:t>
              </a:r>
              <a:r>
                <a:rPr lang="en-US" sz="1300" b="0" u="none" strike="noStrike">
                  <a:solidFill>
                    <a:srgbClr val="FFE994"/>
                  </a:solidFill>
                  <a:effectLst/>
                  <a:uFillTx/>
                  <a:latin typeface="Noto Sans CJK SC"/>
                  <a:ea typeface="Noto Sans CJK SC"/>
                </a:rPr>
                <a:t>50%</a:t>
              </a:r>
              <a:r>
                <a:rPr lang="zh-CN" sz="1300" b="0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以上），缺陷平均定位时间缩短。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"/>
          <p:cNvGrpSpPr/>
          <p:nvPr/>
        </p:nvGrpSpPr>
        <p:grpSpPr>
          <a:xfrm>
            <a:off x="326160" y="231120"/>
            <a:ext cx="4703040" cy="532440"/>
            <a:chOff x="326160" y="231120"/>
            <a:chExt cx="4703040" cy="532440"/>
          </a:xfrm>
        </p:grpSpPr>
        <p:sp>
          <p:nvSpPr>
            <p:cNvPr id="121" name=""/>
            <p:cNvSpPr txBox="1"/>
            <p:nvPr/>
          </p:nvSpPr>
          <p:spPr>
            <a:xfrm>
              <a:off x="1190880" y="231120"/>
              <a:ext cx="38383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AI</a:t>
              </a: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助力开发流程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Arial"/>
                  <a:ea typeface="Source Han Sans SC"/>
                </a:rPr>
                <a:t>文档交付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326160" y="32868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685800" y="32904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4" name=""/>
          <p:cNvGrpSpPr/>
          <p:nvPr/>
        </p:nvGrpSpPr>
        <p:grpSpPr>
          <a:xfrm>
            <a:off x="494280" y="1600200"/>
            <a:ext cx="11201400" cy="3200400"/>
            <a:chOff x="494280" y="1600200"/>
            <a:chExt cx="11201400" cy="3200400"/>
          </a:xfrm>
        </p:grpSpPr>
        <p:sp>
          <p:nvSpPr>
            <p:cNvPr id="125" name="AutoShape 1"/>
            <p:cNvSpPr/>
            <p:nvPr/>
          </p:nvSpPr>
          <p:spPr>
            <a:xfrm>
              <a:off x="494280" y="1600200"/>
              <a:ext cx="5397120" cy="32004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AutoShape 5"/>
            <p:cNvSpPr/>
            <p:nvPr/>
          </p:nvSpPr>
          <p:spPr>
            <a:xfrm>
              <a:off x="748440" y="18543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BEFORE·</a:t>
              </a:r>
              <a:r>
                <a:rPr lang="zh-CN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传统模式痛点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AutoShape 6"/>
            <p:cNvSpPr/>
            <p:nvPr/>
          </p:nvSpPr>
          <p:spPr>
            <a:xfrm>
              <a:off x="74844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•文档滞后于代码，文档描述与系统实际行为不一致。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API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文档手工维护，接口变更后即过期，文档权威性丧失，团队转而直接以源码为准。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•版本说明与变更日志依赖发布前集中补写，遗漏频发，历史难以回溯。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项目知识分散于个人笔记与沟通记录，人员流动即造成知识流失。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128" name="AutoShape 7"/>
            <p:cNvSpPr/>
            <p:nvPr/>
          </p:nvSpPr>
          <p:spPr>
            <a:xfrm>
              <a:off x="6298560" y="1600200"/>
              <a:ext cx="5397120" cy="32004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AutoShape 8"/>
            <p:cNvSpPr/>
            <p:nvPr/>
          </p:nvSpPr>
          <p:spPr>
            <a:xfrm>
              <a:off x="6552360" y="18543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AFTER·AI</a:t>
              </a:r>
              <a:r>
                <a:rPr lang="zh-CN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智能赋能升级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AutoShape 9"/>
            <p:cNvSpPr/>
            <p:nvPr/>
          </p:nvSpPr>
          <p:spPr>
            <a:xfrm>
              <a:off x="655236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33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文档与代码同源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基于代码与契约生成并更新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API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文档，随提交同步，文档恢复可信度。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手册与指南生成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：用户手册、运维说明由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依据功能描述起草，人工完成审校与定稿。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变更日志自动生成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汇总提交历史自动生成分版本变更说明，发布记录完整可溯。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知识自动沉淀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：全过程的需求单、决策记录、评审结论、代码注释由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整理为可检索知识库；交付完成时，项目知识即已留存于组织。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</p:grpSp>
      <p:grpSp>
        <p:nvGrpSpPr>
          <p:cNvPr id="131" name=""/>
          <p:cNvGrpSpPr/>
          <p:nvPr/>
        </p:nvGrpSpPr>
        <p:grpSpPr>
          <a:xfrm>
            <a:off x="475200" y="5261400"/>
            <a:ext cx="11238480" cy="1269720"/>
            <a:chOff x="475200" y="5261400"/>
            <a:chExt cx="11238480" cy="1269720"/>
          </a:xfrm>
        </p:grpSpPr>
        <p:sp>
          <p:nvSpPr>
            <p:cNvPr id="132" name="AutoShape 10"/>
            <p:cNvSpPr/>
            <p:nvPr/>
          </p:nvSpPr>
          <p:spPr>
            <a:xfrm>
              <a:off x="475200" y="526140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AutoShape 12"/>
            <p:cNvSpPr/>
            <p:nvPr/>
          </p:nvSpPr>
          <p:spPr>
            <a:xfrm>
              <a:off x="8553960" y="545184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"/>
            <p:cNvSpPr txBox="1"/>
            <p:nvPr/>
          </p:nvSpPr>
          <p:spPr>
            <a:xfrm>
              <a:off x="785880" y="5581800"/>
              <a:ext cx="10654920" cy="7718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文档随代码自动同步，知识随流程自然留存——人员流动不再等同于资产流失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r>
                <a:rPr lang="zh-CN" sz="1300" b="0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文档编制效率提升（参考值：</a:t>
              </a:r>
              <a:r>
                <a:rPr lang="en-US" sz="1300" b="0" u="none" strike="noStrike">
                  <a:solidFill>
                    <a:srgbClr val="FFE994"/>
                  </a:solidFill>
                  <a:effectLst/>
                  <a:uFillTx/>
                  <a:latin typeface="Noto Sans CJK SC"/>
                  <a:ea typeface="Noto Sans CJK SC"/>
                </a:rPr>
                <a:t>70%</a:t>
              </a:r>
              <a:r>
                <a:rPr lang="en-US" sz="1300" b="0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 </a:t>
              </a:r>
              <a:r>
                <a:rPr lang="zh-CN" sz="1300" b="0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以上），文档与系统行为保持一致。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"/>
          <p:cNvGrpSpPr/>
          <p:nvPr/>
        </p:nvGrpSpPr>
        <p:grpSpPr>
          <a:xfrm>
            <a:off x="326160" y="229320"/>
            <a:ext cx="3788640" cy="532440"/>
            <a:chOff x="326160" y="229320"/>
            <a:chExt cx="3788640" cy="532440"/>
          </a:xfrm>
        </p:grpSpPr>
        <p:sp>
          <p:nvSpPr>
            <p:cNvPr id="136" name=""/>
            <p:cNvSpPr txBox="1"/>
            <p:nvPr/>
          </p:nvSpPr>
          <p:spPr>
            <a:xfrm>
              <a:off x="1190880" y="229320"/>
              <a:ext cx="29239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开发体系建设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326160" y="32688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685800" y="32724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" name=""/>
          <p:cNvGrpSpPr/>
          <p:nvPr/>
        </p:nvGrpSpPr>
        <p:grpSpPr>
          <a:xfrm>
            <a:off x="2322720" y="2286000"/>
            <a:ext cx="7543800" cy="1371600"/>
            <a:chOff x="2322720" y="2286000"/>
            <a:chExt cx="7543800" cy="1371600"/>
          </a:xfrm>
        </p:grpSpPr>
        <p:sp>
          <p:nvSpPr>
            <p:cNvPr id="140" name=""/>
            <p:cNvSpPr/>
            <p:nvPr/>
          </p:nvSpPr>
          <p:spPr>
            <a:xfrm>
              <a:off x="2322720" y="2286000"/>
              <a:ext cx="1371600" cy="13716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 algn="ctr"/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CI/CD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流水线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4380120" y="2286000"/>
              <a:ext cx="1371600" cy="13716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质量门禁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6437520" y="2286000"/>
              <a:ext cx="1371600" cy="13716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研效度量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8494920" y="2286000"/>
              <a:ext cx="1371600" cy="13716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问题跟踪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4" name=""/>
          <p:cNvGrpSpPr/>
          <p:nvPr/>
        </p:nvGrpSpPr>
        <p:grpSpPr>
          <a:xfrm>
            <a:off x="475200" y="5261400"/>
            <a:ext cx="11238480" cy="1269720"/>
            <a:chOff x="475200" y="5261400"/>
            <a:chExt cx="11238480" cy="1269720"/>
          </a:xfrm>
        </p:grpSpPr>
        <p:sp>
          <p:nvSpPr>
            <p:cNvPr id="145" name="AutoShape 10"/>
            <p:cNvSpPr/>
            <p:nvPr/>
          </p:nvSpPr>
          <p:spPr>
            <a:xfrm>
              <a:off x="475200" y="526140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AutoShape 12"/>
            <p:cNvSpPr/>
            <p:nvPr/>
          </p:nvSpPr>
          <p:spPr>
            <a:xfrm>
              <a:off x="8553960" y="545184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"/>
            <p:cNvSpPr txBox="1"/>
            <p:nvPr/>
          </p:nvSpPr>
          <p:spPr>
            <a:xfrm>
              <a:off x="785880" y="5581800"/>
              <a:ext cx="10654920" cy="67572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单点提效要成为组织能力，需完成四次</a:t>
              </a: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固化</a:t>
              </a: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"——</a:t>
              </a:r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固化进流程、固化为底线、固化为数据、固化为闭环。开发支撑体系即围绕这四件事展开。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"/>
          <p:cNvGrpSpPr/>
          <p:nvPr/>
        </p:nvGrpSpPr>
        <p:grpSpPr>
          <a:xfrm>
            <a:off x="326160" y="231480"/>
            <a:ext cx="4931640" cy="532440"/>
            <a:chOff x="326160" y="231480"/>
            <a:chExt cx="4931640" cy="532440"/>
          </a:xfrm>
        </p:grpSpPr>
        <p:sp>
          <p:nvSpPr>
            <p:cNvPr id="149" name=""/>
            <p:cNvSpPr txBox="1"/>
            <p:nvPr/>
          </p:nvSpPr>
          <p:spPr>
            <a:xfrm>
              <a:off x="1190880" y="231480"/>
              <a:ext cx="40669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开发体系建设  </a:t>
              </a:r>
              <a:r>
                <a:rPr lang="en-US" sz="2400" b="0" i="1" u="none" strike="noStrike">
                  <a:solidFill>
                    <a:srgbClr val="FFE994"/>
                  </a:solidFill>
                  <a:effectLst/>
                  <a:uFillTx/>
                  <a:latin typeface="Arial"/>
                  <a:ea typeface="Source Han Sans SC"/>
                </a:rPr>
                <a:t>CI/CD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Arial"/>
                  <a:ea typeface="Source Han Sans SC"/>
                </a:rPr>
                <a:t>流水线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326160" y="32904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68580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2" name=""/>
          <p:cNvGrpSpPr/>
          <p:nvPr/>
        </p:nvGrpSpPr>
        <p:grpSpPr>
          <a:xfrm>
            <a:off x="494640" y="1600200"/>
            <a:ext cx="11201400" cy="3200400"/>
            <a:chOff x="494640" y="1600200"/>
            <a:chExt cx="11201400" cy="3200400"/>
          </a:xfrm>
        </p:grpSpPr>
        <p:sp>
          <p:nvSpPr>
            <p:cNvPr id="153" name="AutoShape 1"/>
            <p:cNvSpPr/>
            <p:nvPr/>
          </p:nvSpPr>
          <p:spPr>
            <a:xfrm>
              <a:off x="494640" y="1600200"/>
              <a:ext cx="5397120" cy="32004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AutoShape 5"/>
            <p:cNvSpPr/>
            <p:nvPr/>
          </p:nvSpPr>
          <p:spPr>
            <a:xfrm>
              <a:off x="748800" y="18543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BEFORE·</a:t>
              </a:r>
              <a:r>
                <a:rPr lang="zh-CN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传统模式痛点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AutoShape 6"/>
            <p:cNvSpPr/>
            <p:nvPr/>
          </p:nvSpPr>
          <p:spPr>
            <a:xfrm>
              <a:off x="74880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•构建与部署依赖手工执行或个人维护的脚本，步骤因人而异，难以复现与交接。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•开发、测试、生产环境配置不一致，问题多在上线环节集中暴露，定位与排查耗时。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•从代码提交到发布的链路长、反馈慢，问题发现滞后于变更。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流水线多靠人工维护，构建失败需人工翻查日志定位，维护成本高。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156" name="AutoShape 7"/>
            <p:cNvSpPr/>
            <p:nvPr/>
          </p:nvSpPr>
          <p:spPr>
            <a:xfrm>
              <a:off x="6298920" y="1600200"/>
              <a:ext cx="5397120" cy="32004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AutoShape 8"/>
            <p:cNvSpPr/>
            <p:nvPr/>
          </p:nvSpPr>
          <p:spPr>
            <a:xfrm>
              <a:off x="6552720" y="18543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AFTER·AI</a:t>
              </a:r>
              <a:r>
                <a:rPr lang="zh-CN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智能赋能升级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AutoShape 9"/>
            <p:cNvSpPr/>
            <p:nvPr/>
          </p:nvSpPr>
          <p:spPr>
            <a:xfrm>
              <a:off x="655272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33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自动化管道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：代码提交即自动触发构建、测试与部署，全过程标准化、可复现、可追溯，交付不再依赖个别人员的操作。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环境即代码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：各环境以配置代码统一管理、一键一致化，环境漂移消除，环境类问题提前暴露。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快速反馈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：提交后分钟级获得构建与测试结果，问题锁定到最近一次变更，定位成本大幅下降。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辅助维护：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辅助生成与更新流水线定义，构建失败自动归因并给出修复建议，流水线维护成本显著下降。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</p:grpSp>
      <p:grpSp>
        <p:nvGrpSpPr>
          <p:cNvPr id="159" name=""/>
          <p:cNvGrpSpPr/>
          <p:nvPr/>
        </p:nvGrpSpPr>
        <p:grpSpPr>
          <a:xfrm>
            <a:off x="475200" y="5261760"/>
            <a:ext cx="11238480" cy="1269720"/>
            <a:chOff x="475200" y="5261760"/>
            <a:chExt cx="11238480" cy="1269720"/>
          </a:xfrm>
        </p:grpSpPr>
        <p:sp>
          <p:nvSpPr>
            <p:cNvPr id="160" name="AutoShape 10"/>
            <p:cNvSpPr/>
            <p:nvPr/>
          </p:nvSpPr>
          <p:spPr>
            <a:xfrm>
              <a:off x="475200" y="526176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AutoShape 12"/>
            <p:cNvSpPr/>
            <p:nvPr/>
          </p:nvSpPr>
          <p:spPr>
            <a:xfrm>
              <a:off x="8553960" y="545220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"/>
            <p:cNvSpPr txBox="1"/>
            <p:nvPr/>
          </p:nvSpPr>
          <p:spPr>
            <a:xfrm>
              <a:off x="785880" y="5582160"/>
              <a:ext cx="10654920" cy="7718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支撑体系的第一层价值，是把</a:t>
              </a: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人会做</a:t>
              </a: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变成</a:t>
              </a: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管道自动做</a:t>
              </a: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，让提效可复制、可交接、不因人员变动而失效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r>
                <a:rPr lang="zh-CN" sz="1300" b="0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交付链路自动化率提升，发布周期缩短，因人工操作引入的差错显著减少。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"/>
          <p:cNvGrpSpPr/>
          <p:nvPr/>
        </p:nvGrpSpPr>
        <p:grpSpPr>
          <a:xfrm>
            <a:off x="326160" y="231480"/>
            <a:ext cx="4703040" cy="532440"/>
            <a:chOff x="326160" y="231480"/>
            <a:chExt cx="4703040" cy="532440"/>
          </a:xfrm>
        </p:grpSpPr>
        <p:sp>
          <p:nvSpPr>
            <p:cNvPr id="164" name=""/>
            <p:cNvSpPr txBox="1"/>
            <p:nvPr/>
          </p:nvSpPr>
          <p:spPr>
            <a:xfrm>
              <a:off x="1190880" y="231480"/>
              <a:ext cx="38383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开发体系建设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Arial"/>
                  <a:ea typeface="Source Han Sans SC"/>
                </a:rPr>
                <a:t>质量门禁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326160" y="32904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68580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7" name=""/>
          <p:cNvGrpSpPr/>
          <p:nvPr/>
        </p:nvGrpSpPr>
        <p:grpSpPr>
          <a:xfrm>
            <a:off x="495000" y="1600200"/>
            <a:ext cx="11201400" cy="3200400"/>
            <a:chOff x="495000" y="1600200"/>
            <a:chExt cx="11201400" cy="3200400"/>
          </a:xfrm>
        </p:grpSpPr>
        <p:sp>
          <p:nvSpPr>
            <p:cNvPr id="168" name="AutoShape 1"/>
            <p:cNvSpPr/>
            <p:nvPr/>
          </p:nvSpPr>
          <p:spPr>
            <a:xfrm>
              <a:off x="495000" y="1600200"/>
              <a:ext cx="5397120" cy="32004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AutoShape 5"/>
            <p:cNvSpPr/>
            <p:nvPr/>
          </p:nvSpPr>
          <p:spPr>
            <a:xfrm>
              <a:off x="749160" y="18543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BEFORE·</a:t>
              </a:r>
              <a:r>
                <a:rPr lang="zh-CN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传统模式痛点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AutoShape 6"/>
            <p:cNvSpPr/>
            <p:nvPr/>
          </p:nvSpPr>
          <p:spPr>
            <a:xfrm>
              <a:off x="74916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•质量保障依赖代码评审与个人自觉，规范执行因人而异，缺少强制性卡点。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•检查多发生在流程后段，问题发现晚，修复成本高。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•静态检查、测试覆盖、代码评审相互割裂，缺乏统一的合入与上线标准。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门禁规则若存在，多为静态阈值，难以识别结构性与语义层面的问题。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171" name="AutoShape 7"/>
            <p:cNvSpPr/>
            <p:nvPr/>
          </p:nvSpPr>
          <p:spPr>
            <a:xfrm>
              <a:off x="6299280" y="1600200"/>
              <a:ext cx="5397120" cy="32004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AutoShape 8"/>
            <p:cNvSpPr/>
            <p:nvPr/>
          </p:nvSpPr>
          <p:spPr>
            <a:xfrm>
              <a:off x="6553080" y="18543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AFTER·AI</a:t>
              </a:r>
              <a:r>
                <a:rPr lang="zh-CN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智能赋能升级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AutoShape 9"/>
            <p:cNvSpPr/>
            <p:nvPr/>
          </p:nvSpPr>
          <p:spPr>
            <a:xfrm>
              <a:off x="655308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33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内建质量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：规范检查、单元测试、覆盖率、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代码审查等纳入合并前自动检查，不达标即拦截，质量不再依赖自觉。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卡点前置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：门禁设于代码合并与发版入口，问题在进入主干前即被发现，修复成本最低。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统一标准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：质量规则集中配置、全局一致，各团队执行同一套底线标准，结果可度量、可追溯。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en-US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增强门禁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审查识别静态规则难以覆盖的设计与安全隐患，门禁随模型迭代持续进化。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</p:grpSp>
      <p:grpSp>
        <p:nvGrpSpPr>
          <p:cNvPr id="174" name=""/>
          <p:cNvGrpSpPr/>
          <p:nvPr/>
        </p:nvGrpSpPr>
        <p:grpSpPr>
          <a:xfrm>
            <a:off x="475200" y="5262120"/>
            <a:ext cx="11238480" cy="1269720"/>
            <a:chOff x="475200" y="5262120"/>
            <a:chExt cx="11238480" cy="1269720"/>
          </a:xfrm>
        </p:grpSpPr>
        <p:sp>
          <p:nvSpPr>
            <p:cNvPr id="175" name="AutoShape 10"/>
            <p:cNvSpPr/>
            <p:nvPr/>
          </p:nvSpPr>
          <p:spPr>
            <a:xfrm>
              <a:off x="475200" y="526212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AutoShape 12"/>
            <p:cNvSpPr/>
            <p:nvPr/>
          </p:nvSpPr>
          <p:spPr>
            <a:xfrm>
              <a:off x="8553960" y="545256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"/>
            <p:cNvSpPr txBox="1"/>
            <p:nvPr/>
          </p:nvSpPr>
          <p:spPr>
            <a:xfrm>
              <a:off x="785880" y="5582520"/>
              <a:ext cx="10654920" cy="7718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质量不是检查出来的，而是由机制兜底的——</a:t>
              </a: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上不了线</a:t>
              </a: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本身就是最有效的规范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r>
                <a:rPr lang="zh-CN" sz="1300" b="0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缺陷在合入前被拦截，线上问题率下降，质量规则全局一致、可追溯。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"/>
          <p:cNvGrpSpPr/>
          <p:nvPr/>
        </p:nvGrpSpPr>
        <p:grpSpPr>
          <a:xfrm>
            <a:off x="326160" y="231480"/>
            <a:ext cx="4703040" cy="532440"/>
            <a:chOff x="326160" y="231480"/>
            <a:chExt cx="4703040" cy="532440"/>
          </a:xfrm>
        </p:grpSpPr>
        <p:sp>
          <p:nvSpPr>
            <p:cNvPr id="179" name=""/>
            <p:cNvSpPr txBox="1"/>
            <p:nvPr/>
          </p:nvSpPr>
          <p:spPr>
            <a:xfrm>
              <a:off x="1190880" y="231480"/>
              <a:ext cx="38383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开发体系建设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Arial"/>
                  <a:ea typeface="Source Han Sans SC"/>
                </a:rPr>
                <a:t>研效度量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326160" y="32904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68580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2" name=""/>
          <p:cNvGrpSpPr/>
          <p:nvPr/>
        </p:nvGrpSpPr>
        <p:grpSpPr>
          <a:xfrm>
            <a:off x="495360" y="1600200"/>
            <a:ext cx="11201400" cy="3200400"/>
            <a:chOff x="495360" y="1600200"/>
            <a:chExt cx="11201400" cy="3200400"/>
          </a:xfrm>
        </p:grpSpPr>
        <p:sp>
          <p:nvSpPr>
            <p:cNvPr id="183" name="AutoShape 1"/>
            <p:cNvSpPr/>
            <p:nvPr/>
          </p:nvSpPr>
          <p:spPr>
            <a:xfrm>
              <a:off x="495360" y="1600200"/>
              <a:ext cx="5397120" cy="32004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AutoShape 5"/>
            <p:cNvSpPr/>
            <p:nvPr/>
          </p:nvSpPr>
          <p:spPr>
            <a:xfrm>
              <a:off x="749520" y="18543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BEFORE·</a:t>
              </a:r>
              <a:r>
                <a:rPr lang="zh-CN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传统模式痛点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AutoShape 6"/>
            <p:cNvSpPr/>
            <p:nvPr/>
          </p:nvSpPr>
          <p:spPr>
            <a:xfrm>
              <a:off x="74952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•各环节周期、交付吞吐、缺陷水平缺乏统一采集口径，现状难以量化。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•开发过程数据分散在多个工具中，人工汇总滞后，难以反映真实瓶颈。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•改进措施多凭经验判断，缺乏数据验证，效果难以评估。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指标若设计不当，易异化为考核工具，反而抑制协作。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186" name="AutoShape 7"/>
            <p:cNvSpPr/>
            <p:nvPr/>
          </p:nvSpPr>
          <p:spPr>
            <a:xfrm>
              <a:off x="6299640" y="1600200"/>
              <a:ext cx="5397120" cy="32004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AutoShape 8"/>
            <p:cNvSpPr/>
            <p:nvPr/>
          </p:nvSpPr>
          <p:spPr>
            <a:xfrm>
              <a:off x="6553440" y="18543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AFTER·AI</a:t>
              </a:r>
              <a:r>
                <a:rPr lang="zh-CN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智能赋能升级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AutoShape 9"/>
            <p:cNvSpPr/>
            <p:nvPr/>
          </p:nvSpPr>
          <p:spPr>
            <a:xfrm>
              <a:off x="655344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33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统一度量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：交付周期、需求吞吐、缺陷率、变更失败率等端到端指标自动采集，口径一致、真实可溯。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全景可视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：跨工具数据自动汇聚为开发效能看板，瓶颈环节一目了然，无需人工汇总。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en-US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归因与预警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自动分析指标波动，归因到具体环节与变更，并提前预警交付风险，改进有据可依。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改进导向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：指标服务于改进而非考核，通过团队数据确认改进方向，避免指标滥用。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</p:grpSp>
      <p:grpSp>
        <p:nvGrpSpPr>
          <p:cNvPr id="189" name=""/>
          <p:cNvGrpSpPr/>
          <p:nvPr/>
        </p:nvGrpSpPr>
        <p:grpSpPr>
          <a:xfrm>
            <a:off x="475200" y="5262480"/>
            <a:ext cx="11238480" cy="1269720"/>
            <a:chOff x="475200" y="5262480"/>
            <a:chExt cx="11238480" cy="1269720"/>
          </a:xfrm>
        </p:grpSpPr>
        <p:sp>
          <p:nvSpPr>
            <p:cNvPr id="190" name="AutoShape 10"/>
            <p:cNvSpPr/>
            <p:nvPr/>
          </p:nvSpPr>
          <p:spPr>
            <a:xfrm>
              <a:off x="475200" y="526248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AutoShape 12"/>
            <p:cNvSpPr/>
            <p:nvPr/>
          </p:nvSpPr>
          <p:spPr>
            <a:xfrm>
              <a:off x="8553960" y="545292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"/>
            <p:cNvSpPr txBox="1"/>
            <p:nvPr/>
          </p:nvSpPr>
          <p:spPr>
            <a:xfrm>
              <a:off x="785880" y="5582880"/>
              <a:ext cx="10654920" cy="7718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度量是为了让改进有据可依，而非用于考核加压——看见问题，才能解决问题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r>
                <a:rPr lang="zh-CN" sz="1300" b="0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开发效能可视可测，瓶颈定位与改进验证有数据支撑。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"/>
          <p:cNvGrpSpPr/>
          <p:nvPr/>
        </p:nvGrpSpPr>
        <p:grpSpPr>
          <a:xfrm>
            <a:off x="326160" y="231480"/>
            <a:ext cx="4703040" cy="532440"/>
            <a:chOff x="326160" y="231480"/>
            <a:chExt cx="4703040" cy="532440"/>
          </a:xfrm>
        </p:grpSpPr>
        <p:sp>
          <p:nvSpPr>
            <p:cNvPr id="194" name=""/>
            <p:cNvSpPr txBox="1"/>
            <p:nvPr/>
          </p:nvSpPr>
          <p:spPr>
            <a:xfrm>
              <a:off x="1190880" y="231480"/>
              <a:ext cx="38383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开发体系建设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Arial"/>
                  <a:ea typeface="Source Han Sans SC"/>
                </a:rPr>
                <a:t>问题跟踪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"/>
            <p:cNvSpPr/>
            <p:nvPr/>
          </p:nvSpPr>
          <p:spPr>
            <a:xfrm>
              <a:off x="326160" y="32904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"/>
            <p:cNvSpPr/>
            <p:nvPr/>
          </p:nvSpPr>
          <p:spPr>
            <a:xfrm>
              <a:off x="68580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7" name=""/>
          <p:cNvGrpSpPr/>
          <p:nvPr/>
        </p:nvGrpSpPr>
        <p:grpSpPr>
          <a:xfrm>
            <a:off x="495720" y="1600200"/>
            <a:ext cx="11201400" cy="3200400"/>
            <a:chOff x="495720" y="1600200"/>
            <a:chExt cx="11201400" cy="3200400"/>
          </a:xfrm>
        </p:grpSpPr>
        <p:sp>
          <p:nvSpPr>
            <p:cNvPr id="198" name="AutoShape 1"/>
            <p:cNvSpPr/>
            <p:nvPr/>
          </p:nvSpPr>
          <p:spPr>
            <a:xfrm>
              <a:off x="495720" y="1600200"/>
              <a:ext cx="5397120" cy="32004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AutoShape 5"/>
            <p:cNvSpPr/>
            <p:nvPr/>
          </p:nvSpPr>
          <p:spPr>
            <a:xfrm>
              <a:off x="749880" y="18543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BEFORE·</a:t>
              </a:r>
              <a:r>
                <a:rPr lang="zh-CN" sz="2000" b="1" u="none" strike="noStrike">
                  <a:solidFill>
                    <a:srgbClr val="FF7070"/>
                  </a:solidFill>
                  <a:effectLst/>
                  <a:uFillTx/>
                  <a:latin typeface="Noto Sans SC"/>
                  <a:ea typeface="Noto Sans SC"/>
                </a:rPr>
                <a:t>传统模式痛点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AutoShape 6"/>
            <p:cNvSpPr/>
            <p:nvPr/>
          </p:nvSpPr>
          <p:spPr>
            <a:xfrm>
              <a:off x="74988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•缺陷与需求分散在不同渠道，登记、分派依赖人工，易遗漏、易滞后。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•问题定位依赖人工关联代码与日志，根因追溯周期长。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•修复完成后缺少统一的验证与复盘，同类问题反复出现。</a:t>
              </a:r>
              <a:br>
                <a:rPr sz="1400"/>
              </a:br>
              <a:r>
                <a:rPr lang="en-US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4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处理过程产生的经验散落各处，未沉淀为团队可复用的资产。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201" name="AutoShape 7"/>
            <p:cNvSpPr/>
            <p:nvPr/>
          </p:nvSpPr>
          <p:spPr>
            <a:xfrm>
              <a:off x="6300000" y="1600200"/>
              <a:ext cx="5397120" cy="320040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6000"/>
              </a:schemeClr>
            </a:solidFill>
            <a:ln w="12600">
              <a:solidFill>
                <a:schemeClr val="accent1">
                  <a:lumMod val="75000"/>
                  <a:lumOff val="0"/>
                  <a:alpha val="18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AutoShape 8"/>
            <p:cNvSpPr/>
            <p:nvPr/>
          </p:nvSpPr>
          <p:spPr>
            <a:xfrm>
              <a:off x="6553800" y="1854360"/>
              <a:ext cx="4889160" cy="4442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25000"/>
                </a:lnSpc>
                <a:tabLst>
                  <a:tab pos="0" algn="l"/>
                </a:tabLst>
              </a:pPr>
              <a:r>
                <a:rPr lang="en-US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AFTER·AI</a:t>
              </a:r>
              <a:r>
                <a:rPr lang="zh-CN" sz="2000" b="1" u="none" strike="noStrike">
                  <a:solidFill>
                    <a:srgbClr val="40E0D0"/>
                  </a:solidFill>
                  <a:effectLst/>
                  <a:uFillTx/>
                  <a:latin typeface="Noto Sans SC"/>
                  <a:ea typeface="Noto Sans SC"/>
                </a:rPr>
                <a:t>智能赋能升级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AutoShape 9"/>
            <p:cNvSpPr/>
            <p:nvPr/>
          </p:nvSpPr>
          <p:spPr>
            <a:xfrm>
              <a:off x="6553800" y="2425680"/>
              <a:ext cx="4889160" cy="203148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>
                <a:lnSpc>
                  <a:spcPct val="133000"/>
                </a:lnSpc>
                <a:spcBef>
                  <a:spcPts val="1191"/>
                </a:spcBef>
                <a:spcAft>
                  <a:spcPts val="992"/>
                </a:spcAft>
                <a:tabLst>
                  <a:tab pos="0" algn="l"/>
                </a:tabLst>
              </a:pP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统一闭环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：缺陷、任务、需求全量纳入同一跟踪体系，状态流转透明，无人工值守环节亦不遗漏。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en-US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智能分诊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依据问题描述自动分类、定级并分派至对应负责人，缩短响应与流转时间。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根因联动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：问题与代码提交、构建记录自动关联，</a:t>
              </a: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辅助定位引入变更，修复与验证有据可依。</a:t>
              </a:r>
              <a:br>
                <a:rPr sz="1300"/>
              </a:br>
              <a:r>
                <a:rPr lang="en-US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•</a:t>
              </a:r>
              <a:r>
                <a:rPr lang="zh-CN" sz="1300" b="1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知识回流</a:t>
              </a:r>
              <a:r>
                <a:rPr lang="zh-CN" sz="1300" b="0" u="none" strike="noStrike">
                  <a:solidFill>
                    <a:srgbClr val="E6EEF5">
                      <a:alpha val="92000"/>
                    </a:srgbClr>
                  </a:solidFill>
                  <a:effectLst/>
                  <a:uFillTx/>
                  <a:latin typeface="Noto Sans CJK SC"/>
                  <a:ea typeface="Noto Sans CJK SC"/>
                </a:rPr>
                <a:t>：闭环后的问题自动沉淀为回归用例与经验知识，反哺开发各环节，同类问题不再重复发生。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</p:grpSp>
      <p:grpSp>
        <p:nvGrpSpPr>
          <p:cNvPr id="204" name=""/>
          <p:cNvGrpSpPr/>
          <p:nvPr/>
        </p:nvGrpSpPr>
        <p:grpSpPr>
          <a:xfrm>
            <a:off x="475200" y="5262840"/>
            <a:ext cx="11238480" cy="1269720"/>
            <a:chOff x="475200" y="5262840"/>
            <a:chExt cx="11238480" cy="1269720"/>
          </a:xfrm>
        </p:grpSpPr>
        <p:sp>
          <p:nvSpPr>
            <p:cNvPr id="205" name="AutoShape 10"/>
            <p:cNvSpPr/>
            <p:nvPr/>
          </p:nvSpPr>
          <p:spPr>
            <a:xfrm>
              <a:off x="475200" y="526284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AutoShape 12"/>
            <p:cNvSpPr/>
            <p:nvPr/>
          </p:nvSpPr>
          <p:spPr>
            <a:xfrm>
              <a:off x="8553960" y="545328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"/>
            <p:cNvSpPr txBox="1"/>
            <p:nvPr/>
          </p:nvSpPr>
          <p:spPr>
            <a:xfrm>
              <a:off x="785880" y="5583240"/>
              <a:ext cx="10654920" cy="7718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zh-CN" sz="16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每一次问题闭环，都是一次向质量基线与知识库的回流——闭环即沉淀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r>
                <a:rPr lang="zh-CN" sz="1300" b="0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问题闭环周期缩短，同类缺陷复发率下降，处理经验沉淀为组织资产。</a:t>
              </a:r>
              <a:endPara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"/>
          <p:cNvGrpSpPr/>
          <p:nvPr/>
        </p:nvGrpSpPr>
        <p:grpSpPr>
          <a:xfrm>
            <a:off x="326160" y="231840"/>
            <a:ext cx="4703040" cy="532440"/>
            <a:chOff x="326160" y="231840"/>
            <a:chExt cx="4703040" cy="532440"/>
          </a:xfrm>
        </p:grpSpPr>
        <p:sp>
          <p:nvSpPr>
            <p:cNvPr id="209" name=""/>
            <p:cNvSpPr txBox="1"/>
            <p:nvPr/>
          </p:nvSpPr>
          <p:spPr>
            <a:xfrm>
              <a:off x="1190880" y="231840"/>
              <a:ext cx="38383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Source Han Sans SC"/>
                </a:rPr>
                <a:t>能力平台与场景落地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"/>
            <p:cNvSpPr/>
            <p:nvPr/>
          </p:nvSpPr>
          <p:spPr>
            <a:xfrm>
              <a:off x="32616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"/>
            <p:cNvSpPr/>
            <p:nvPr/>
          </p:nvSpPr>
          <p:spPr>
            <a:xfrm>
              <a:off x="685800" y="32976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2" name=""/>
          <p:cNvGrpSpPr/>
          <p:nvPr/>
        </p:nvGrpSpPr>
        <p:grpSpPr>
          <a:xfrm>
            <a:off x="2551320" y="1600560"/>
            <a:ext cx="7086600" cy="4342680"/>
            <a:chOff x="2551320" y="1600560"/>
            <a:chExt cx="7086600" cy="4342680"/>
          </a:xfrm>
        </p:grpSpPr>
        <p:sp>
          <p:nvSpPr>
            <p:cNvPr id="213" name=""/>
            <p:cNvSpPr/>
            <p:nvPr/>
          </p:nvSpPr>
          <p:spPr>
            <a:xfrm>
              <a:off x="2551320" y="1600560"/>
              <a:ext cx="5257800" cy="685440"/>
            </a:xfrm>
            <a:prstGeom prst="parallelogram">
              <a:avLst>
                <a:gd name="adj" fmla="val 191767"/>
              </a:avLst>
            </a:pr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 algn="ctr"/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AI</a:t>
              </a:r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能力中台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3008520" y="2514960"/>
              <a:ext cx="5257800" cy="685440"/>
            </a:xfrm>
            <a:prstGeom prst="parallelogram">
              <a:avLst>
                <a:gd name="adj" fmla="val 191767"/>
              </a:avLst>
            </a:pr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通用模型与工具能力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3465720" y="3429360"/>
              <a:ext cx="5257800" cy="685440"/>
            </a:xfrm>
            <a:prstGeom prst="parallelogram">
              <a:avLst>
                <a:gd name="adj" fmla="val 191767"/>
              </a:avLst>
            </a:pr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代码助手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3928680" y="4343400"/>
              <a:ext cx="5257800" cy="685440"/>
            </a:xfrm>
            <a:prstGeom prst="parallelogram">
              <a:avLst>
                <a:gd name="adj" fmla="val 191767"/>
              </a:avLst>
            </a:pr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智能运维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"/>
            <p:cNvSpPr/>
            <p:nvPr/>
          </p:nvSpPr>
          <p:spPr>
            <a:xfrm>
              <a:off x="4380120" y="5257800"/>
              <a:ext cx="5257800" cy="685440"/>
            </a:xfrm>
            <a:prstGeom prst="parallelogram">
              <a:avLst>
                <a:gd name="adj" fmla="val 191767"/>
              </a:avLst>
            </a:pr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需求智能分析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"/>
          <p:cNvGrpSpPr/>
          <p:nvPr/>
        </p:nvGrpSpPr>
        <p:grpSpPr>
          <a:xfrm>
            <a:off x="326160" y="231840"/>
            <a:ext cx="5617440" cy="532440"/>
            <a:chOff x="326160" y="231840"/>
            <a:chExt cx="5617440" cy="532440"/>
          </a:xfrm>
        </p:grpSpPr>
        <p:sp>
          <p:nvSpPr>
            <p:cNvPr id="219" name=""/>
            <p:cNvSpPr txBox="1"/>
            <p:nvPr/>
          </p:nvSpPr>
          <p:spPr>
            <a:xfrm>
              <a:off x="1190880" y="231840"/>
              <a:ext cx="47527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能力平台与场景落地  </a:t>
              </a:r>
              <a:r>
                <a:rPr lang="en-US" sz="2400" b="0" i="1" u="none" strike="noStrike">
                  <a:solidFill>
                    <a:srgbClr val="FFE994"/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Noto Sans CJK SC"/>
                  <a:ea typeface="Noto Sans CJK SC"/>
                </a:rPr>
                <a:t>能力中台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"/>
            <p:cNvSpPr/>
            <p:nvPr/>
          </p:nvSpPr>
          <p:spPr>
            <a:xfrm>
              <a:off x="32616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685800" y="32976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2" name=""/>
          <p:cNvSpPr/>
          <p:nvPr/>
        </p:nvSpPr>
        <p:spPr>
          <a:xfrm>
            <a:off x="493920" y="1136880"/>
            <a:ext cx="11201400" cy="46332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统一汇聚、封装与运营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能力的平台底座，是能力从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"</a:t>
            </a: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项目制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"</a:t>
            </a: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走向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"</a:t>
            </a: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平台制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"</a:t>
            </a: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的载体。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493920" y="2286000"/>
            <a:ext cx="11201400" cy="2514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1.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能力汇聚：将散落在各项目中的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能力统一纳管，避免重复建设与各自为政。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Noto Sans CJK SC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2.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原子封装：将文档解析（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OCR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）、图像质检、时序预测、流程自动化（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RPA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）等能力封装为标准接口。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Noto Sans CJK SC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3.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统一调用：业务与开发系统经标准入口接入，统一鉴权、配额与计量，无需各自对接模型。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Noto Sans CJK SC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4.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运营观测：对调用量、效果与成本统一度量，为能力迭代与资源投入提供依据。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Noto Sans CJK SC"/>
            </a:endParaRPr>
          </a:p>
        </p:txBody>
      </p:sp>
      <p:grpSp>
        <p:nvGrpSpPr>
          <p:cNvPr id="224" name=""/>
          <p:cNvGrpSpPr/>
          <p:nvPr/>
        </p:nvGrpSpPr>
        <p:grpSpPr>
          <a:xfrm>
            <a:off x="475200" y="5263200"/>
            <a:ext cx="11238480" cy="1269720"/>
            <a:chOff x="475200" y="5263200"/>
            <a:chExt cx="11238480" cy="1269720"/>
          </a:xfrm>
        </p:grpSpPr>
        <p:sp>
          <p:nvSpPr>
            <p:cNvPr id="225" name="AutoShape 10"/>
            <p:cNvSpPr/>
            <p:nvPr/>
          </p:nvSpPr>
          <p:spPr>
            <a:xfrm>
              <a:off x="475200" y="526320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pPr algn="ctr">
                <a:spcBef>
                  <a:spcPts val="1191"/>
                </a:spcBef>
                <a:spcAft>
                  <a:spcPts val="992"/>
                </a:spcAft>
              </a:pP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实现</a:t>
              </a:r>
              <a:r>
                <a:rPr lang="en-US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一次建设、多处复用</a:t>
              </a:r>
              <a:r>
                <a:rPr lang="en-US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，使开发团队获得接入</a:t>
              </a:r>
              <a:r>
                <a:rPr lang="en-US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的标准通道，显著降低</a:t>
              </a:r>
              <a:r>
                <a:rPr lang="en-US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使用门槛。</a:t>
              </a:r>
              <a:endParaRPr lang="en-US" sz="1500" b="1" u="none" strike="noStrike">
                <a:solidFill>
                  <a:srgbClr val="FFFFFF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226" name="AutoShape 12"/>
            <p:cNvSpPr/>
            <p:nvPr/>
          </p:nvSpPr>
          <p:spPr>
            <a:xfrm>
              <a:off x="8553960" y="545364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"/>
          <p:cNvGrpSpPr/>
          <p:nvPr/>
        </p:nvGrpSpPr>
        <p:grpSpPr>
          <a:xfrm>
            <a:off x="326160" y="231840"/>
            <a:ext cx="6760440" cy="532440"/>
            <a:chOff x="326160" y="231840"/>
            <a:chExt cx="6760440" cy="532440"/>
          </a:xfrm>
        </p:grpSpPr>
        <p:sp>
          <p:nvSpPr>
            <p:cNvPr id="228" name=""/>
            <p:cNvSpPr txBox="1"/>
            <p:nvPr/>
          </p:nvSpPr>
          <p:spPr>
            <a:xfrm>
              <a:off x="1190880" y="231840"/>
              <a:ext cx="58957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能力平台与场景落地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Noto Sans CJK SC"/>
                  <a:ea typeface="Noto Sans CJK SC"/>
                </a:rPr>
                <a:t>通用模型与工具能力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"/>
            <p:cNvSpPr/>
            <p:nvPr/>
          </p:nvSpPr>
          <p:spPr>
            <a:xfrm>
              <a:off x="32616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"/>
            <p:cNvSpPr/>
            <p:nvPr/>
          </p:nvSpPr>
          <p:spPr>
            <a:xfrm>
              <a:off x="685800" y="32976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1" name=""/>
          <p:cNvSpPr/>
          <p:nvPr/>
        </p:nvSpPr>
        <p:spPr>
          <a:xfrm>
            <a:off x="494280" y="1137240"/>
            <a:ext cx="11201400" cy="46332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为上层场景提供统一的模型引擎与公共工具，是能力中台在大模型时代的支撑层。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494280" y="2286360"/>
            <a:ext cx="11201400" cy="2514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pPr marL="360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1.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大模型网关：兼容本地私有化模型与第三方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API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模型，统一接入、统一管理调用。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2.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模型路由与升级：按场景选择与切换模型，模型迭代对上层透明，避免技术锁定。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3.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知识库与上下文管理：提供统一的知识检索与上下文工程工具，支撑场景的精准调用。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4.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合规与安全管控：敏感数据不出域，调用全程留痕审计，满足数据安全与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GMP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相关要求。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5.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成本管控：按场景、按用量统一计量与配额管理，模型成本可预期、可优化。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33" name=""/>
          <p:cNvGrpSpPr/>
          <p:nvPr/>
        </p:nvGrpSpPr>
        <p:grpSpPr>
          <a:xfrm>
            <a:off x="475200" y="5263560"/>
            <a:ext cx="11238480" cy="1269720"/>
            <a:chOff x="475200" y="5263560"/>
            <a:chExt cx="11238480" cy="1269720"/>
          </a:xfrm>
        </p:grpSpPr>
        <p:sp>
          <p:nvSpPr>
            <p:cNvPr id="234" name="AutoShape 10"/>
            <p:cNvSpPr/>
            <p:nvPr/>
          </p:nvSpPr>
          <p:spPr>
            <a:xfrm>
              <a:off x="475200" y="526356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模型能力随取随用、可按需替换而不被锁定，并在合规与成本的双重约束下稳定运行。</a:t>
              </a:r>
              <a:endParaRPr lang="en-US" sz="1500" b="1" u="none" strike="noStrike">
                <a:solidFill>
                  <a:srgbClr val="000000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235" name="AutoShape 12"/>
            <p:cNvSpPr/>
            <p:nvPr/>
          </p:nvSpPr>
          <p:spPr>
            <a:xfrm>
              <a:off x="8553960" y="545400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"/>
          <p:cNvGrpSpPr/>
          <p:nvPr/>
        </p:nvGrpSpPr>
        <p:grpSpPr>
          <a:xfrm>
            <a:off x="326160" y="231840"/>
            <a:ext cx="5617440" cy="532440"/>
            <a:chOff x="326160" y="231840"/>
            <a:chExt cx="5617440" cy="532440"/>
          </a:xfrm>
        </p:grpSpPr>
        <p:sp>
          <p:nvSpPr>
            <p:cNvPr id="237" name=""/>
            <p:cNvSpPr txBox="1"/>
            <p:nvPr/>
          </p:nvSpPr>
          <p:spPr>
            <a:xfrm>
              <a:off x="1190880" y="231840"/>
              <a:ext cx="47527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能力平台与场景落地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Noto Sans CJK SC"/>
                  <a:ea typeface="Noto Sans CJK SC"/>
                </a:rPr>
                <a:t>代码助手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"/>
            <p:cNvSpPr/>
            <p:nvPr/>
          </p:nvSpPr>
          <p:spPr>
            <a:xfrm>
              <a:off x="32616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685800" y="32976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0" name=""/>
          <p:cNvSpPr/>
          <p:nvPr/>
        </p:nvSpPr>
        <p:spPr>
          <a:xfrm>
            <a:off x="494640" y="1137600"/>
            <a:ext cx="11201400" cy="46332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pPr/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457200" y="1136880"/>
            <a:ext cx="11201400" cy="46332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把第一部分编码环节已验证的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提效，固化为全员统一使用的组织级工具。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494640" y="2286720"/>
            <a:ext cx="11201400" cy="2514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1.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组织级接入：统一接入开发环境，覆盖代码补全、生成、解释与重构，替代个人零散使用。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2.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审查与测试联动：与代码审查、单元测试生成相结合，承接质量门禁中的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审查能力。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3.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规范与知识内嵌：内置团队编码规范与私有项目知识，生成结果天然符合组织标准。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4.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安全管控：代码在受控环境内处理，使用行为留痕，兼顾效率与代码资产安全。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43" name=""/>
          <p:cNvGrpSpPr/>
          <p:nvPr/>
        </p:nvGrpSpPr>
        <p:grpSpPr>
          <a:xfrm>
            <a:off x="475200" y="5263920"/>
            <a:ext cx="11238480" cy="1269720"/>
            <a:chOff x="475200" y="5263920"/>
            <a:chExt cx="11238480" cy="1269720"/>
          </a:xfrm>
        </p:grpSpPr>
        <p:sp>
          <p:nvSpPr>
            <p:cNvPr id="244" name="AutoShape 10"/>
            <p:cNvSpPr/>
            <p:nvPr/>
          </p:nvSpPr>
          <p:spPr>
            <a:xfrm>
              <a:off x="475200" y="526392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让每位开发者处于同一提效水平线上，编码提效由</a:t>
              </a:r>
              <a:r>
                <a:rPr lang="en-US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个人技巧</a:t>
              </a:r>
              <a:r>
                <a:rPr lang="en-US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沉淀为</a:t>
              </a:r>
              <a:r>
                <a:rPr lang="en-US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组织能力</a:t>
              </a:r>
              <a:r>
                <a:rPr lang="en-US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。</a:t>
              </a:r>
              <a:endParaRPr lang="en-US" sz="1500" b="1" u="none" strike="noStrike">
                <a:solidFill>
                  <a:srgbClr val="000000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245" name="AutoShape 12"/>
            <p:cNvSpPr/>
            <p:nvPr/>
          </p:nvSpPr>
          <p:spPr>
            <a:xfrm>
              <a:off x="8553960" y="545436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"/>
          <p:cNvGrpSpPr/>
          <p:nvPr/>
        </p:nvGrpSpPr>
        <p:grpSpPr>
          <a:xfrm>
            <a:off x="326160" y="231840"/>
            <a:ext cx="5617440" cy="532440"/>
            <a:chOff x="326160" y="231840"/>
            <a:chExt cx="5617440" cy="532440"/>
          </a:xfrm>
        </p:grpSpPr>
        <p:sp>
          <p:nvSpPr>
            <p:cNvPr id="247" name=""/>
            <p:cNvSpPr txBox="1"/>
            <p:nvPr/>
          </p:nvSpPr>
          <p:spPr>
            <a:xfrm>
              <a:off x="1190880" y="231840"/>
              <a:ext cx="47527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能力平台与场景落地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Noto Sans CJK SC"/>
                  <a:ea typeface="Noto Sans CJK SC"/>
                </a:rPr>
                <a:t>智能运维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32616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"/>
            <p:cNvSpPr/>
            <p:nvPr/>
          </p:nvSpPr>
          <p:spPr>
            <a:xfrm>
              <a:off x="685800" y="32976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0" name=""/>
          <p:cNvSpPr/>
          <p:nvPr/>
        </p:nvSpPr>
        <p:spPr>
          <a:xfrm>
            <a:off x="457560" y="1137240"/>
            <a:ext cx="11201400" cy="46332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覆盖系统上线之后的运行环节，承接开发支撑体系在交付后的保障闭环。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495000" y="2287080"/>
            <a:ext cx="11201400" cy="2514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1.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智能告警：对运行异常自动发现并收敛告警，减少误报与漏报。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2.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日志与根因分析：对日志与调用链自动分析，辅助根因定位，缩短排障时间。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3.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容量与健康预测：基于运行数据预测容量水位与故障风险，由被动处置转为主动预防。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4.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与发布流程衔接：与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CI/CD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及发布策略贯通，系统上线前后的状态连贯可观测。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52" name=""/>
          <p:cNvGrpSpPr/>
          <p:nvPr/>
        </p:nvGrpSpPr>
        <p:grpSpPr>
          <a:xfrm>
            <a:off x="475200" y="5264280"/>
            <a:ext cx="11238480" cy="1269720"/>
            <a:chOff x="475200" y="5264280"/>
            <a:chExt cx="11238480" cy="1269720"/>
          </a:xfrm>
        </p:grpSpPr>
        <p:sp>
          <p:nvSpPr>
            <p:cNvPr id="253" name="AutoShape 10"/>
            <p:cNvSpPr/>
            <p:nvPr/>
          </p:nvSpPr>
          <p:spPr>
            <a:xfrm>
              <a:off x="475200" y="526428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线上问题早发现、快定位，保障交付后的持续稳定运行，为开发效能闭环兜底。</a:t>
              </a:r>
              <a:endParaRPr lang="en-US" sz="1500" b="1" u="none" strike="noStrike">
                <a:solidFill>
                  <a:srgbClr val="000000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254" name="AutoShape 12"/>
            <p:cNvSpPr/>
            <p:nvPr/>
          </p:nvSpPr>
          <p:spPr>
            <a:xfrm>
              <a:off x="8553960" y="545472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"/>
          <p:cNvGrpSpPr/>
          <p:nvPr/>
        </p:nvGrpSpPr>
        <p:grpSpPr>
          <a:xfrm>
            <a:off x="326160" y="231840"/>
            <a:ext cx="5846040" cy="532440"/>
            <a:chOff x="326160" y="231840"/>
            <a:chExt cx="5846040" cy="532440"/>
          </a:xfrm>
        </p:grpSpPr>
        <p:sp>
          <p:nvSpPr>
            <p:cNvPr id="256" name=""/>
            <p:cNvSpPr txBox="1"/>
            <p:nvPr/>
          </p:nvSpPr>
          <p:spPr>
            <a:xfrm>
              <a:off x="1190880" y="231840"/>
              <a:ext cx="49813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能力平台与场景落地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Noto Sans CJK SC"/>
                  <a:ea typeface="Noto Sans CJK SC"/>
                </a:rPr>
                <a:t>需求智能分析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32616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"/>
            <p:cNvSpPr/>
            <p:nvPr/>
          </p:nvSpPr>
          <p:spPr>
            <a:xfrm>
              <a:off x="685800" y="32976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9" name=""/>
          <p:cNvSpPr/>
          <p:nvPr/>
        </p:nvSpPr>
        <p:spPr>
          <a:xfrm>
            <a:off x="457920" y="1137600"/>
            <a:ext cx="11201400" cy="46332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把住需求进入开发前的入口，回扣第一部分需求梳理环节的提效能力。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495360" y="2287440"/>
            <a:ext cx="11201400" cy="2514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1.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结构化梳理：将自然语言描述的需求转为结构化需求单，口径统一、字段完整。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2.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影响面分析：关联代码、接口与数据资产，评估需求改动的影响范围。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3.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工作量估算：结合历史数据给出工作量与排期建议，为计划安排提供依据。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4.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交付前置准备：同步生成验收标准与用例建议，为测试环节提供输入。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61" name=""/>
          <p:cNvGrpSpPr/>
          <p:nvPr/>
        </p:nvGrpSpPr>
        <p:grpSpPr>
          <a:xfrm>
            <a:off x="475200" y="5264640"/>
            <a:ext cx="11238480" cy="1269720"/>
            <a:chOff x="475200" y="5264640"/>
            <a:chExt cx="11238480" cy="1269720"/>
          </a:xfrm>
        </p:grpSpPr>
        <p:sp>
          <p:nvSpPr>
            <p:cNvPr id="262" name="AutoShape 10"/>
            <p:cNvSpPr/>
            <p:nvPr/>
          </p:nvSpPr>
          <p:spPr>
            <a:xfrm>
              <a:off x="475200" y="526464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从源头降低需求的模糊与带病进入，提升后续各环节的交付确定性。</a:t>
              </a:r>
              <a:endParaRPr lang="en-US" sz="1500" b="1" u="none" strike="noStrike">
                <a:solidFill>
                  <a:srgbClr val="000000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263" name="AutoShape 12"/>
            <p:cNvSpPr/>
            <p:nvPr/>
          </p:nvSpPr>
          <p:spPr>
            <a:xfrm>
              <a:off x="8553960" y="545508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 txBox="1"/>
          <p:nvPr/>
        </p:nvSpPr>
        <p:spPr>
          <a:xfrm>
            <a:off x="1190880" y="231840"/>
            <a:ext cx="4752720" cy="5324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实施路径与保障机制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326160" y="329400"/>
            <a:ext cx="359640" cy="359640"/>
          </a:xfrm>
          <a:custGeom>
            <a:avLst/>
            <a:gdLst>
              <a:gd name="textAreaLeft" fmla="*/ 0 w 359640"/>
              <a:gd name="textAreaRight" fmla="*/ 360000 w 359640"/>
              <a:gd name="textAreaTop" fmla="*/ 0 h 359640"/>
              <a:gd name="textAreaBottom" fmla="*/ 360000 h 3596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685800" y="329760"/>
            <a:ext cx="359640" cy="359640"/>
          </a:xfrm>
          <a:custGeom>
            <a:avLst/>
            <a:gdLst>
              <a:gd name="textAreaLeft" fmla="*/ 0 w 359640"/>
              <a:gd name="textAreaRight" fmla="*/ 360000 w 359640"/>
              <a:gd name="textAreaTop" fmla="*/ 0 h 359640"/>
              <a:gd name="textAreaBottom" fmla="*/ 360000 h 3596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7" name=""/>
          <p:cNvGrpSpPr/>
          <p:nvPr/>
        </p:nvGrpSpPr>
        <p:grpSpPr>
          <a:xfrm>
            <a:off x="1979640" y="2946600"/>
            <a:ext cx="8229600" cy="1143000"/>
            <a:chOff x="1979640" y="2946600"/>
            <a:chExt cx="8229600" cy="1143000"/>
          </a:xfrm>
        </p:grpSpPr>
        <p:sp>
          <p:nvSpPr>
            <p:cNvPr id="268" name=""/>
            <p:cNvSpPr/>
            <p:nvPr/>
          </p:nvSpPr>
          <p:spPr>
            <a:xfrm>
              <a:off x="4951440" y="2946600"/>
              <a:ext cx="2286000" cy="1143000"/>
            </a:xfrm>
            <a:prstGeom prst="foldedCorner">
              <a:avLst>
                <a:gd name="adj" fmla="val 12500"/>
              </a:avLst>
            </a:pr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建立组织保障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"/>
            <p:cNvSpPr/>
            <p:nvPr/>
          </p:nvSpPr>
          <p:spPr>
            <a:xfrm>
              <a:off x="7923240" y="2946600"/>
              <a:ext cx="2286000" cy="1143000"/>
            </a:xfrm>
            <a:prstGeom prst="foldedCorner">
              <a:avLst>
                <a:gd name="adj" fmla="val 12500"/>
              </a:avLst>
            </a:pr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人才培训与培养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"/>
            <p:cNvSpPr/>
            <p:nvPr/>
          </p:nvSpPr>
          <p:spPr>
            <a:xfrm>
              <a:off x="1979640" y="2946600"/>
              <a:ext cx="2286000" cy="1143000"/>
            </a:xfrm>
            <a:prstGeom prst="foldedCorner">
              <a:avLst>
                <a:gd name="adj" fmla="val 12500"/>
              </a:avLst>
            </a:prstGeom>
            <a:solidFill>
              <a:schemeClr val="accent1"/>
            </a:solidFill>
            <a:ln w="1260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7400" tIns="32400" rIns="77400" bIns="32400" anchor="ctr">
              <a:noAutofit/>
            </a:bodyPr>
            <a:p>
              <a:pPr algn="ctr"/>
              <a:r>
                <a:rPr lang="zh-CN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分阶段落地计划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"/>
          <p:cNvGrpSpPr/>
          <p:nvPr/>
        </p:nvGrpSpPr>
        <p:grpSpPr>
          <a:xfrm>
            <a:off x="326160" y="231840"/>
            <a:ext cx="6074640" cy="532440"/>
            <a:chOff x="326160" y="231840"/>
            <a:chExt cx="6074640" cy="532440"/>
          </a:xfrm>
        </p:grpSpPr>
        <p:sp>
          <p:nvSpPr>
            <p:cNvPr id="272" name=""/>
            <p:cNvSpPr txBox="1"/>
            <p:nvPr/>
          </p:nvSpPr>
          <p:spPr>
            <a:xfrm>
              <a:off x="1190880" y="231840"/>
              <a:ext cx="52099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实施路径与保障机制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Arial"/>
                </a:rPr>
                <a:t>分阶段落地计划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"/>
            <p:cNvSpPr/>
            <p:nvPr/>
          </p:nvSpPr>
          <p:spPr>
            <a:xfrm>
              <a:off x="32616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"/>
            <p:cNvSpPr/>
            <p:nvPr/>
          </p:nvSpPr>
          <p:spPr>
            <a:xfrm>
              <a:off x="685800" y="32976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5" name=""/>
          <p:cNvSpPr/>
          <p:nvPr/>
        </p:nvSpPr>
        <p:spPr>
          <a:xfrm>
            <a:off x="458280" y="1137960"/>
            <a:ext cx="11201400" cy="46332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把六环节提效、支撑体系与能力平台组织为有序推进的节奏，分步验证、降低风险、快速见效。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495720" y="2287800"/>
            <a:ext cx="11201400" cy="2514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1.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试点验证阶段：选择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1-2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个真实需求，以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全流程走通需求梳理至文档交付，验证提效幅度，沉淀样板案例与工具使用规范，时间以月计。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2.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体系成型阶段：建设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CI/CD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流水线、质量门禁、研效度量与问题跟踪支撑体系，规模化推广代码助手等已验证工具，形成组织级规范。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3.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平台与规模化阶段：上线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能力中台与通用模型能力，代码助手、智能运维、需求智能分析全面落地，团队能力与平台同步成型，时间跨度以月计、留弹性。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77" name=""/>
          <p:cNvGrpSpPr/>
          <p:nvPr/>
        </p:nvGrpSpPr>
        <p:grpSpPr>
          <a:xfrm>
            <a:off x="475200" y="5265000"/>
            <a:ext cx="11238480" cy="1269720"/>
            <a:chOff x="475200" y="5265000"/>
            <a:chExt cx="11238480" cy="1269720"/>
          </a:xfrm>
        </p:grpSpPr>
        <p:sp>
          <p:nvSpPr>
            <p:cNvPr id="278" name="AutoShape 10"/>
            <p:cNvSpPr/>
            <p:nvPr/>
          </p:nvSpPr>
          <p:spPr>
            <a:xfrm>
              <a:off x="475200" y="526500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每个阶段有明确重点、交付物与验收标准，能力按节奏沉淀，不追求一步到位。</a:t>
              </a:r>
              <a:endParaRPr lang="en-US" sz="1500" b="1" u="none" strike="noStrike">
                <a:solidFill>
                  <a:srgbClr val="000000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279" name="AutoShape 12"/>
            <p:cNvSpPr/>
            <p:nvPr/>
          </p:nvSpPr>
          <p:spPr>
            <a:xfrm>
              <a:off x="8553960" y="545544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"/>
          <p:cNvGrpSpPr/>
          <p:nvPr/>
        </p:nvGrpSpPr>
        <p:grpSpPr>
          <a:xfrm>
            <a:off x="326160" y="231840"/>
            <a:ext cx="5846040" cy="532440"/>
            <a:chOff x="326160" y="231840"/>
            <a:chExt cx="5846040" cy="532440"/>
          </a:xfrm>
        </p:grpSpPr>
        <p:sp>
          <p:nvSpPr>
            <p:cNvPr id="281" name=""/>
            <p:cNvSpPr txBox="1"/>
            <p:nvPr/>
          </p:nvSpPr>
          <p:spPr>
            <a:xfrm>
              <a:off x="1190880" y="231840"/>
              <a:ext cx="49813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实施路径与保障机制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Arial"/>
                </a:rPr>
                <a:t>建立组织保障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32616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685800" y="32976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4" name=""/>
          <p:cNvSpPr/>
          <p:nvPr/>
        </p:nvSpPr>
        <p:spPr>
          <a:xfrm>
            <a:off x="458280" y="1137960"/>
            <a:ext cx="11201400" cy="46332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使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开发效能建设不依赖个别人员与临时项目，而以组织、制度与治理机制持续运转。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495720" y="2287800"/>
            <a:ext cx="11201400" cy="2514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1.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推进组织：成立由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IT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负责人牵头的专项推进组织，明确决策、协调与跨部门衔接机制。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2.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制度流程：将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使用规范、代码与数据安全边界制度化，纳入日常开发流程。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3.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治理运营：质量门禁、度量口径、审计留痕等治理机制有明确的责任主体持续运营，而非一次性建设。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324"/>
              </a:spcBef>
              <a:spcAft>
                <a:spcPts val="2126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4.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资产归属：合作模式与交付物（代码、文档、模型）归属事先明确，避免供应商绑定与资产流失。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86" name=""/>
          <p:cNvGrpSpPr/>
          <p:nvPr/>
        </p:nvGrpSpPr>
        <p:grpSpPr>
          <a:xfrm>
            <a:off x="475200" y="5265000"/>
            <a:ext cx="11238480" cy="1269720"/>
            <a:chOff x="475200" y="5265000"/>
            <a:chExt cx="11238480" cy="1269720"/>
          </a:xfrm>
        </p:grpSpPr>
        <p:sp>
          <p:nvSpPr>
            <p:cNvPr id="287" name="AutoShape 10"/>
            <p:cNvSpPr/>
            <p:nvPr/>
          </p:nvSpPr>
          <p:spPr>
            <a:xfrm>
              <a:off x="475200" y="526500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权责清晰、机制常态，数字化能力沉淀为企业资产，而非个人或项目资产。</a:t>
              </a:r>
              <a:endParaRPr lang="en-US" sz="1500" b="1" u="none" strike="noStrike">
                <a:solidFill>
                  <a:srgbClr val="000000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288" name="AutoShape 12"/>
            <p:cNvSpPr/>
            <p:nvPr/>
          </p:nvSpPr>
          <p:spPr>
            <a:xfrm>
              <a:off x="8553960" y="545544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"/>
          <p:cNvGrpSpPr/>
          <p:nvPr/>
        </p:nvGrpSpPr>
        <p:grpSpPr>
          <a:xfrm>
            <a:off x="326160" y="231840"/>
            <a:ext cx="6074640" cy="532440"/>
            <a:chOff x="326160" y="231840"/>
            <a:chExt cx="6074640" cy="532440"/>
          </a:xfrm>
        </p:grpSpPr>
        <p:sp>
          <p:nvSpPr>
            <p:cNvPr id="290" name=""/>
            <p:cNvSpPr txBox="1"/>
            <p:nvPr/>
          </p:nvSpPr>
          <p:spPr>
            <a:xfrm>
              <a:off x="1190880" y="231840"/>
              <a:ext cx="52099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实施路径与保障机制  </a:t>
              </a:r>
              <a:r>
                <a:rPr lang="zh-CN" sz="2400" b="0" i="1" u="none" strike="noStrike">
                  <a:solidFill>
                    <a:srgbClr val="FFE994"/>
                  </a:solidFill>
                  <a:effectLst/>
                  <a:uFillTx/>
                  <a:latin typeface="Arial"/>
                </a:rPr>
                <a:t>人才培训与培养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"/>
            <p:cNvSpPr/>
            <p:nvPr/>
          </p:nvSpPr>
          <p:spPr>
            <a:xfrm>
              <a:off x="32616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"/>
            <p:cNvSpPr/>
            <p:nvPr/>
          </p:nvSpPr>
          <p:spPr>
            <a:xfrm>
              <a:off x="685800" y="32976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3" name=""/>
          <p:cNvSpPr/>
          <p:nvPr/>
        </p:nvSpPr>
        <p:spPr>
          <a:xfrm>
            <a:off x="458280" y="1137960"/>
            <a:ext cx="11201400" cy="46332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工具可以快速引入，判断与决策能力必须由自有团队掌握——围绕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打造一支能独立判断、持续交付的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IT</a:t>
            </a: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队伍。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495720" y="2287800"/>
            <a:ext cx="11201400" cy="2514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pPr marL="360000">
              <a:lnSpc>
                <a:spcPct val="100000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1.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分层培养：按工具使用、输出判断、业务结合、战略决策四个层次规划成长路径，逐级进阶。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2.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边干边学：以真实商业化项目为载体，由资深人员担任导师带教，在项目中练中学，而非书本式培训。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3.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判断力是根基：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输出须经人工校验，团队须掌握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"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该信什么、该改什么、什么不能交给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AI"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的边界——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很强大，但不能完全依赖，判断与决策的根基始终在自有团队。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4.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成果归属：合作共建期间，双方产出的代码与文档等成果均归康希诺所有，团队能力与企业资产同步沉淀。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95" name=""/>
          <p:cNvGrpSpPr/>
          <p:nvPr/>
        </p:nvGrpSpPr>
        <p:grpSpPr>
          <a:xfrm>
            <a:off x="475200" y="5265000"/>
            <a:ext cx="11238480" cy="1269720"/>
            <a:chOff x="475200" y="5265000"/>
            <a:chExt cx="11238480" cy="1269720"/>
          </a:xfrm>
        </p:grpSpPr>
        <p:sp>
          <p:nvSpPr>
            <p:cNvPr id="296" name="AutoShape 10"/>
            <p:cNvSpPr/>
            <p:nvPr/>
          </p:nvSpPr>
          <p:spPr>
            <a:xfrm>
              <a:off x="475200" y="526500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自有团队具备以</a:t>
              </a:r>
              <a:r>
                <a:rPr lang="en-US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AI</a:t>
              </a: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放大自身能力并独立判断的根基，一支强有力的开发团队成为企业的长期资产。</a:t>
              </a:r>
              <a:endParaRPr lang="en-US" sz="1500" b="1" u="none" strike="noStrike">
                <a:solidFill>
                  <a:srgbClr val="000000"/>
                </a:solidFill>
                <a:effectLst/>
                <a:uFillTx/>
                <a:latin typeface="Noto Sans CJK SC"/>
              </a:endParaRPr>
            </a:p>
          </p:txBody>
        </p:sp>
        <p:sp>
          <p:nvSpPr>
            <p:cNvPr id="297" name="AutoShape 12"/>
            <p:cNvSpPr/>
            <p:nvPr/>
          </p:nvSpPr>
          <p:spPr>
            <a:xfrm>
              <a:off x="8553960" y="545544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"/>
          <p:cNvGrpSpPr/>
          <p:nvPr/>
        </p:nvGrpSpPr>
        <p:grpSpPr>
          <a:xfrm>
            <a:off x="326160" y="231840"/>
            <a:ext cx="5617440" cy="532440"/>
            <a:chOff x="326160" y="231840"/>
            <a:chExt cx="5617440" cy="532440"/>
          </a:xfrm>
        </p:grpSpPr>
        <p:sp>
          <p:nvSpPr>
            <p:cNvPr id="299" name=""/>
            <p:cNvSpPr txBox="1"/>
            <p:nvPr/>
          </p:nvSpPr>
          <p:spPr>
            <a:xfrm>
              <a:off x="1190880" y="231840"/>
              <a:ext cx="47527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分阶段帮助构建图案与能力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"/>
            <p:cNvSpPr/>
            <p:nvPr/>
          </p:nvSpPr>
          <p:spPr>
            <a:xfrm>
              <a:off x="32616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685800" y="32976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2" name=""/>
          <p:cNvSpPr/>
          <p:nvPr/>
        </p:nvSpPr>
        <p:spPr>
          <a:xfrm>
            <a:off x="496080" y="1371600"/>
            <a:ext cx="11201400" cy="34311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pPr marL="360000">
              <a:lnSpc>
                <a:spcPct val="100000"/>
              </a:lnSpc>
              <a:spcBef>
                <a:spcPts val="2041"/>
              </a:spcBef>
              <a:spcAft>
                <a:spcPts val="1843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1.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现状诊断与规划：对客户团队、工具与流程现状摸底，明确差距与改进路线。客户获得：清晰的建设路线与优先级。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041"/>
              </a:spcBef>
              <a:spcAft>
                <a:spcPts val="1843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2.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试点共研：选取真实商业化需求，由黑尾科技人员与客户团队共同开发，资深人员担任导师现场带教。客户获得：首个走通全流程的样板项目与实战经验。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041"/>
              </a:spcBef>
              <a:spcAft>
                <a:spcPts val="1843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3.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体系共建：与客户一起沉淀技术栈选型、开发规范、文档交付标准与支撑体系。客户获得：可落地、可执行的工程规范体系。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041"/>
              </a:spcBef>
              <a:spcAft>
                <a:spcPts val="1843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4.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能力独立：客户团队逐步主导技术方案与架构设计，黑尾科技转为顾问把关。客户获得：能够独立完成方案与架构设计的人员。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041"/>
              </a:spcBef>
              <a:spcAft>
                <a:spcPts val="1843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5.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持续进化：平台与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能力随项目迭代，客户团队自主演进、自主造血。客户获得：长期自我进化能力。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03" name=""/>
          <p:cNvGrpSpPr/>
          <p:nvPr/>
        </p:nvGrpSpPr>
        <p:grpSpPr>
          <a:xfrm>
            <a:off x="475200" y="5265360"/>
            <a:ext cx="11238480" cy="1269720"/>
            <a:chOff x="475200" y="5265360"/>
            <a:chExt cx="11238480" cy="1269720"/>
          </a:xfrm>
        </p:grpSpPr>
        <p:sp>
          <p:nvSpPr>
            <p:cNvPr id="304" name="AutoShape 10"/>
            <p:cNvSpPr/>
            <p:nvPr/>
          </p:nvSpPr>
          <p:spPr>
            <a:xfrm>
              <a:off x="475200" y="526536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r>
                <a:rPr lang="en-US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&gt; </a:t>
              </a: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成效框架（通用化）：通过上述共建，客户逐步形成自己的技术栈、开发规范与文档交付标准，并培养出可独立完成技术方案或架构设计的人员；合作期间共同产出的代码与知识成果归客户所有。</a:t>
              </a:r>
              <a:endPara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r>
                <a:rPr lang="en-US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&gt; </a:t>
              </a: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案例占位：此处预留具体客户实例插入位（哪家客户、如何共建、团队如何成长，案例细节待补充）。</a:t>
              </a:r>
              <a:endPara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AutoShape 12"/>
            <p:cNvSpPr/>
            <p:nvPr/>
          </p:nvSpPr>
          <p:spPr>
            <a:xfrm>
              <a:off x="8553960" y="545580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"/>
          <p:cNvGrpSpPr/>
          <p:nvPr/>
        </p:nvGrpSpPr>
        <p:grpSpPr>
          <a:xfrm>
            <a:off x="326160" y="231840"/>
            <a:ext cx="5617440" cy="532440"/>
            <a:chOff x="326160" y="231840"/>
            <a:chExt cx="5617440" cy="532440"/>
          </a:xfrm>
        </p:grpSpPr>
        <p:sp>
          <p:nvSpPr>
            <p:cNvPr id="307" name=""/>
            <p:cNvSpPr txBox="1"/>
            <p:nvPr/>
          </p:nvSpPr>
          <p:spPr>
            <a:xfrm>
              <a:off x="1190880" y="231840"/>
              <a:ext cx="47527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自动化演进</a:t>
              </a:r>
              <a:r>
                <a:rPr lang="en-US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-</a:t>
              </a: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从测试到运维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"/>
            <p:cNvSpPr/>
            <p:nvPr/>
          </p:nvSpPr>
          <p:spPr>
            <a:xfrm>
              <a:off x="32616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685800" y="32976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0" name=""/>
          <p:cNvSpPr/>
          <p:nvPr/>
        </p:nvSpPr>
        <p:spPr>
          <a:xfrm>
            <a:off x="496440" y="1371960"/>
            <a:ext cx="11201400" cy="34311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60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7400" tIns="32400" rIns="77400" bIns="32400" anchor="ctr">
            <a:noAutofit/>
          </a:bodyPr>
          <a:p>
            <a:pPr marL="360000">
              <a:lnSpc>
                <a:spcPct val="100000"/>
              </a:lnSpc>
              <a:spcBef>
                <a:spcPts val="2608"/>
              </a:spcBef>
              <a:spcAft>
                <a:spcPts val="2409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1.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自动化测试（当下强化）：覆盖代码生成后的质量验证。现状：用例与脚本由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AI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辅助生成并自维护；目标：测试覆盖纳入质量门禁、随变更自动执行。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608"/>
              </a:spcBef>
              <a:spcAft>
                <a:spcPts val="2409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2.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自动化部署（完善固化）：打通从提交到上线的最后一公里。现状：建立并完善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CI/CD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流水线；目标：多环境一键部署、发布策略（蓝绿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灰度）常态化、风险可控。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60000">
              <a:lnSpc>
                <a:spcPct val="100000"/>
              </a:lnSpc>
              <a:spcBef>
                <a:spcPts val="2608"/>
              </a:spcBef>
              <a:spcAft>
                <a:spcPts val="2409"/>
              </a:spcAf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3. 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自动化运维（未来方向）：让系统运行也进入自动与智能。现状：监控告警人工介入较多；目标：智能监控、异常自愈、容量预测，与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"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智能运维</a:t>
            </a: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"</a:t>
            </a:r>
            <a:r>
              <a:rPr lang="zh-CN" sz="1300" b="0" u="none" strike="noStrike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能力呼应，最终走向无人值守与主动预防。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11" name=""/>
          <p:cNvGrpSpPr/>
          <p:nvPr/>
        </p:nvGrpSpPr>
        <p:grpSpPr>
          <a:xfrm>
            <a:off x="475200" y="5265720"/>
            <a:ext cx="11238480" cy="1269720"/>
            <a:chOff x="475200" y="5265720"/>
            <a:chExt cx="11238480" cy="1269720"/>
          </a:xfrm>
        </p:grpSpPr>
        <p:sp>
          <p:nvSpPr>
            <p:cNvPr id="312" name="AutoShape 10"/>
            <p:cNvSpPr/>
            <p:nvPr/>
          </p:nvSpPr>
          <p:spPr>
            <a:xfrm>
              <a:off x="475200" y="5265720"/>
              <a:ext cx="11238480" cy="1269720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16000"/>
              </a:schemeClr>
            </a:solidFill>
            <a:ln w="12600">
              <a:solidFill>
                <a:schemeClr val="accent1">
                  <a:lumMod val="75000"/>
                  <a:lumOff val="0"/>
                  <a:alpha val="40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自动化测试与自动化部署已可落地，自动化运维是紧随其后的演进方向。三步走完，研发效能才真正形成</a:t>
              </a:r>
              <a:r>
                <a:rPr lang="en-US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开发—交付—运行</a:t>
              </a:r>
              <a:r>
                <a:rPr lang="en-US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"</a:t>
              </a:r>
              <a:r>
                <a:rPr lang="zh-CN" sz="1500" b="1" u="none" strike="noStrike">
                  <a:solidFill>
                    <a:srgbClr val="FFFFFF"/>
                  </a:solidFill>
                  <a:effectLst/>
                  <a:uFillTx/>
                  <a:latin typeface="Noto Sans CJK SC"/>
                  <a:ea typeface="Noto Sans CJK SC"/>
                </a:rPr>
                <a:t>的完整闭环。</a:t>
              </a:r>
              <a:endPara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AutoShape 12"/>
            <p:cNvSpPr/>
            <p:nvPr/>
          </p:nvSpPr>
          <p:spPr>
            <a:xfrm>
              <a:off x="8553960" y="5456160"/>
              <a:ext cx="2930400" cy="101556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"/>
          <p:cNvGrpSpPr/>
          <p:nvPr/>
        </p:nvGrpSpPr>
        <p:grpSpPr>
          <a:xfrm>
            <a:off x="326160" y="231840"/>
            <a:ext cx="5617440" cy="532440"/>
            <a:chOff x="326160" y="231840"/>
            <a:chExt cx="5617440" cy="532440"/>
          </a:xfrm>
        </p:grpSpPr>
        <p:sp>
          <p:nvSpPr>
            <p:cNvPr id="315" name=""/>
            <p:cNvSpPr txBox="1"/>
            <p:nvPr/>
          </p:nvSpPr>
          <p:spPr>
            <a:xfrm>
              <a:off x="1190880" y="231840"/>
              <a:ext cx="4752720" cy="532440"/>
            </a:xfrm>
            <a:prstGeom prst="rect">
              <a:avLst/>
            </a:prstGeom>
            <a:noFill/>
            <a:ln w="38160">
              <a:noFill/>
            </a:ln>
          </p:spPr>
          <p:txBody>
            <a:bodyPr lIns="90000" tIns="45000" rIns="90000" bIns="45000" anchor="t">
              <a:spAutoFit/>
            </a:bodyPr>
            <a:p>
              <a:pPr/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案例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"/>
            <p:cNvSpPr/>
            <p:nvPr/>
          </p:nvSpPr>
          <p:spPr>
            <a:xfrm>
              <a:off x="326160" y="329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"/>
            <p:cNvSpPr/>
            <p:nvPr/>
          </p:nvSpPr>
          <p:spPr>
            <a:xfrm>
              <a:off x="685800" y="32976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0" y="21600"/>
                  </a:lnTo>
                  <a:lnTo>
                    <a:pt x="5400" y="10800"/>
                  </a:lnTo>
                  <a:close/>
                </a:path>
              </a:pathLst>
            </a:custGeom>
            <a:solidFill>
              <a:schemeClr val="accent1"/>
            </a:solidFill>
            <a:ln w="38160">
              <a:solidFill>
                <a:schemeClr val="accent1">
                  <a:lumMod val="75000"/>
                  <a:lumOff val="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 txBox="1"/>
          <p:nvPr/>
        </p:nvSpPr>
        <p:spPr>
          <a:xfrm>
            <a:off x="5177520" y="2743200"/>
            <a:ext cx="1833840" cy="1788120"/>
          </a:xfrm>
          <a:prstGeom prst="rect">
            <a:avLst/>
          </a:prstGeom>
          <a:noFill/>
          <a:ln w="38160">
            <a:noFill/>
          </a:ln>
        </p:spPr>
        <p:txBody>
          <a:bodyPr wrap="none" lIns="90000" tIns="45000" rIns="90000" bIns="45000" anchor="t" anchorCtr="1">
            <a:spAutoFit/>
          </a:bodyPr>
          <a:p>
            <a:pPr algn="ctr"/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Noto Sans CJK SC"/>
              </a:rPr>
              <a:t>THANKS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</a:rPr>
              <a:t>HereweTech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CJK SC"/>
              </a:rPr>
              <a:t>2026.9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408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2026-09-07T15:29:31Z</dcterms:created>
  <dc:creator/>
  <dc:description/>
  <dc:language>en-US</dc:language>
  <cp:lastModifiedBy/>
  <dcterms:modified xsi:type="dcterms:W3CDTF">2026-09-09T00:51:57Z</dcterms:modified>
  <cp:revision>42</cp:revision>
  <dc:subject/>
  <dc:title/>
</cp:coreProperties>
</file>